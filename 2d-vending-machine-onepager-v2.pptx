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説明トーク例: 2D自販機は、ポスターやパネルをそのまま販売導線に変える仕組みです。ユーザーは現地で商品を見つけ、スマホでタッチまたはQR読み取りして購入。受取は現地受取とオンライン配送の両方に対応し、事前購入による在庫確保や注文番号/QR提示によるスムーズな受取が可能です。物理自販機を置かずに展開できるため、イベント・店舗・観光地・ライブ会場などの限定販売や混雑緩和に向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371600"/>
            <a:ext cx="4754880" cy="4754880"/>
          </a:xfrm>
          <a:prstGeom prst="ellipse">
            <a:avLst/>
          </a:prstGeom>
          <a:solidFill>
            <a:srgbClr val="12D6F3">
              <a:alpha val="14000"/>
            </a:srgbClr>
          </a:solidFill>
          <a:ln w="12700">
            <a:solidFill>
              <a:srgbClr val="12D6F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389120"/>
            <a:ext cx="3840480" cy="3840480"/>
          </a:xfrm>
          <a:prstGeom prst="ellipse">
            <a:avLst/>
          </a:prstGeom>
          <a:solidFill>
            <a:srgbClr val="1E88E5">
              <a:alpha val="12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4846320"/>
            <a:ext cx="3200400" cy="3200400"/>
          </a:xfrm>
          <a:prstGeom prst="ellipse">
            <a:avLst/>
          </a:prstGeom>
          <a:solidFill>
            <a:srgbClr val="7C5CFF">
              <a:alpha val="10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47472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12D6F3"/>
          </a:solidFill>
          <a:ln w="12700">
            <a:solidFill>
              <a:srgbClr val="12D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1188"/>
            <a:ext cx="13533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 PAGE PROPOSAL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2D自販機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788920" y="786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ポスターが、そのまま自販機になる。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11795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EE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現地体験を “その場で買える購買導線” に変える、NFC / QR 対応の平面型販売ツール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454896" y="42976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12D6F3"/>
          </a:solidFill>
          <a:ln w="12700">
            <a:solidFill>
              <a:srgbClr val="12D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54896" y="443484"/>
            <a:ext cx="8961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NFC TOUCH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460736" y="429768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0736" y="443484"/>
            <a:ext cx="8046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 ORDER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19488" y="7772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9488" y="790956"/>
            <a:ext cx="15087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PICKUP / DELIVERY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" y="1572768"/>
            <a:ext cx="4800600" cy="4343400"/>
          </a:xfrm>
          <a:prstGeom prst="roundRect">
            <a:avLst>
              <a:gd name="adj" fmla="val 4632"/>
            </a:avLst>
          </a:prstGeom>
          <a:solidFill>
            <a:srgbClr val="EAF8FF"/>
          </a:solidFill>
          <a:ln w="12700">
            <a:solidFill>
              <a:srgbClr val="77DF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1792224"/>
            <a:ext cx="4370832" cy="502920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19385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2D VENDING 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22192" y="1901952"/>
            <a:ext cx="960120" cy="219456"/>
          </a:xfrm>
          <a:prstGeom prst="roundRect">
            <a:avLst>
              <a:gd name="adj" fmla="val 5833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1915668"/>
            <a:ext cx="9601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タッチして購入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0976" y="2523744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2615184"/>
            <a:ext cx="960120" cy="384048"/>
          </a:xfrm>
          <a:prstGeom prst="rect">
            <a:avLst/>
          </a:prstGeom>
          <a:solidFill>
            <a:srgbClr val="12D6F3"/>
          </a:solidFill>
          <a:ln w="12700">
            <a:solidFill>
              <a:srgbClr val="12D6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3054096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限定A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1060704" y="3200400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2368296" y="2523744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9736" y="2615184"/>
            <a:ext cx="960120" cy="38404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78024" y="3054096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限定B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478024" y="3200400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3785616" y="2523744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77056" y="2615184"/>
            <a:ext cx="960120" cy="384048"/>
          </a:xfrm>
          <a:prstGeom prst="rect">
            <a:avLst/>
          </a:prstGeom>
          <a:solidFill>
            <a:srgbClr val="FFD166">
              <a:alpha val="8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95344" y="3054096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限定C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3895344" y="3200400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950976" y="367588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" y="3767328"/>
            <a:ext cx="960120" cy="3840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4206240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会場限定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1060704" y="4352544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2368296" y="367588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59736" y="3767328"/>
            <a:ext cx="96012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78024" y="4206240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推し活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2478024" y="4352544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3785616" y="3675888"/>
            <a:ext cx="1143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6E9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77056" y="3767328"/>
            <a:ext cx="960120" cy="384048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95344" y="4206240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観光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3895344" y="4352544"/>
            <a:ext cx="9235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960120" y="4992624"/>
            <a:ext cx="1828800" cy="530352"/>
          </a:xfrm>
          <a:prstGeom prst="roundRect">
            <a:avLst>
              <a:gd name="adj" fmla="val 20690"/>
            </a:avLst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" y="51206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D6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NFC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27632" y="512978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スマホをかざす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1444752" y="5047488"/>
            <a:ext cx="329184" cy="292608"/>
          </a:xfrm>
          <a:prstGeom prst="arc">
            <a:avLst/>
          </a:prstGeom>
          <a:solidFill>
            <a:srgbClr val="08223A">
              <a:alpha val="0"/>
            </a:srgbClr>
          </a:solidFill>
          <a:ln w="15240">
            <a:solidFill>
              <a:srgbClr val="12D6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63624" y="5010912"/>
            <a:ext cx="402336" cy="365760"/>
          </a:xfrm>
          <a:prstGeom prst="arc">
            <a:avLst/>
          </a:prstGeom>
          <a:solidFill>
            <a:srgbClr val="08223A">
              <a:alpha val="0"/>
            </a:srgbClr>
          </a:solidFill>
          <a:ln w="15240">
            <a:solidFill>
              <a:srgbClr val="12D6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82496" y="4974336"/>
            <a:ext cx="475488" cy="438912"/>
          </a:xfrm>
          <a:prstGeom prst="arc">
            <a:avLst/>
          </a:prstGeom>
          <a:solidFill>
            <a:srgbClr val="08223A">
              <a:alpha val="0"/>
            </a:srgbClr>
          </a:solidFill>
          <a:ln w="15240">
            <a:solidFill>
              <a:srgbClr val="12D6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56432" y="4882896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9584" y="4956048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30168" y="4956048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31336" y="4956048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9584" y="5056632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30168" y="5056632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31920" y="5056632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30752" y="5157216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29584" y="5257800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31336" y="5257800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31920" y="5257800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30168" y="5358384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31336" y="5358384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31920" y="5358384"/>
            <a:ext cx="64008" cy="64008"/>
          </a:xfrm>
          <a:prstGeom prst="rect">
            <a:avLst/>
          </a:prstGeom>
          <a:solidFill>
            <a:srgbClr val="08223A"/>
          </a:solidFill>
          <a:ln w="12700">
            <a:solidFill>
              <a:srgbClr val="0822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15384" y="509320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4407408"/>
            <a:ext cx="475488" cy="950976"/>
          </a:xfrm>
          <a:prstGeom prst="roundRect">
            <a:avLst>
              <a:gd name="adj" fmla="val 21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26864" y="4526280"/>
            <a:ext cx="365760" cy="685800"/>
          </a:xfrm>
          <a:prstGeom prst="roundRect">
            <a:avLst>
              <a:gd name="adj" fmla="val 10000"/>
            </a:avLst>
          </a:prstGeom>
          <a:solidFill>
            <a:srgbClr val="DFF9FF"/>
          </a:solidFill>
          <a:ln w="12700">
            <a:solidFill>
              <a:srgbClr val="DFF9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07408" y="4754880"/>
            <a:ext cx="-548640" cy="-164592"/>
          </a:xfrm>
          <a:prstGeom prst="line">
            <a:avLst/>
          </a:prstGeom>
          <a:noFill/>
          <a:ln w="3048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3749040" y="43891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9F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スマホ決済へ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5596128" y="1572768"/>
            <a:ext cx="6053328" cy="4343400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25312" y="18470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提案概要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925312" y="2139696"/>
            <a:ext cx="50749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ポスター・パネル・POP上の商品枠から、スマホのNFCタッチまたはQR読み取りで購入。物理自販機を置かずに、イベント会場・店舗・観光地・ライブ会場へ「その場で買える売り場」を展開できます。</a:t>
            </a:r>
            <a:endParaRPr lang="en-US" sz="1120" dirty="0"/>
          </a:p>
        </p:txBody>
      </p:sp>
      <p:sp>
        <p:nvSpPr>
          <p:cNvPr id="75" name="Shape 73"/>
          <p:cNvSpPr/>
          <p:nvPr/>
        </p:nvSpPr>
        <p:spPr>
          <a:xfrm>
            <a:off x="5925312" y="2889504"/>
            <a:ext cx="1591056" cy="1170432"/>
          </a:xfrm>
          <a:prstGeom prst="roundRect">
            <a:avLst>
              <a:gd name="adj" fmla="val 10156"/>
            </a:avLst>
          </a:prstGeom>
          <a:solidFill>
            <a:srgbClr val="F7FCFF"/>
          </a:solidFill>
          <a:ln w="12700">
            <a:solidFill>
              <a:srgbClr val="D5F0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71616" y="3063240"/>
            <a:ext cx="310896" cy="310896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71616" y="31043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19088" y="30632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現地受取</a:t>
            </a:r>
            <a:endParaRPr lang="en-US" sz="920" dirty="0"/>
          </a:p>
        </p:txBody>
      </p:sp>
      <p:sp>
        <p:nvSpPr>
          <p:cNvPr id="79" name="Text 77"/>
          <p:cNvSpPr/>
          <p:nvPr/>
        </p:nvSpPr>
        <p:spPr>
          <a:xfrm>
            <a:off x="6071616" y="3438144"/>
            <a:ext cx="129844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注文番号 / QR提示でスムーズ受取。事前購入で在庫確保し、ファストパス的に受け取れる。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7699248" y="2889504"/>
            <a:ext cx="1591056" cy="1170432"/>
          </a:xfrm>
          <a:prstGeom prst="roundRect">
            <a:avLst>
              <a:gd name="adj" fmla="val 10156"/>
            </a:avLst>
          </a:prstGeom>
          <a:solidFill>
            <a:srgbClr val="F7FCFF"/>
          </a:solidFill>
          <a:ln w="12700">
            <a:solidFill>
              <a:srgbClr val="D5F0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45552" y="3063240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45552" y="31043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193024" y="30632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オンライン配送</a:t>
            </a:r>
            <a:endParaRPr lang="en-US" sz="920" dirty="0"/>
          </a:p>
        </p:txBody>
      </p:sp>
      <p:sp>
        <p:nvSpPr>
          <p:cNvPr id="84" name="Text 82"/>
          <p:cNvSpPr/>
          <p:nvPr/>
        </p:nvSpPr>
        <p:spPr>
          <a:xfrm>
            <a:off x="7845552" y="3438144"/>
            <a:ext cx="129844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現地で見て購入し、後日配送。荷物を増やしたくない来場者にも対応。</a:t>
            </a:r>
            <a:endParaRPr lang="en-US" sz="760" dirty="0"/>
          </a:p>
        </p:txBody>
      </p:sp>
      <p:sp>
        <p:nvSpPr>
          <p:cNvPr id="85" name="Shape 83"/>
          <p:cNvSpPr/>
          <p:nvPr/>
        </p:nvSpPr>
        <p:spPr>
          <a:xfrm>
            <a:off x="9473184" y="2889504"/>
            <a:ext cx="1591056" cy="1170432"/>
          </a:xfrm>
          <a:prstGeom prst="roundRect">
            <a:avLst>
              <a:gd name="adj" fmla="val 10156"/>
            </a:avLst>
          </a:prstGeom>
          <a:solidFill>
            <a:srgbClr val="F7FCFF"/>
          </a:solidFill>
          <a:ln w="12700">
            <a:solidFill>
              <a:srgbClr val="D5F0F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19488" y="3063240"/>
            <a:ext cx="310896" cy="31089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19488" y="31043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966960" y="30632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相談窓口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9619488" y="3438144"/>
            <a:ext cx="129844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スマホ操作が難しいユーザー向けに、窓口購入導線も用意可能。</a:t>
            </a:r>
            <a:endParaRPr lang="en-US" sz="760" dirty="0"/>
          </a:p>
        </p:txBody>
      </p:sp>
      <p:sp>
        <p:nvSpPr>
          <p:cNvPr id="90" name="Shape 88"/>
          <p:cNvSpPr/>
          <p:nvPr/>
        </p:nvSpPr>
        <p:spPr>
          <a:xfrm>
            <a:off x="5925312" y="4297680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FFE6A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08192" y="44622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ユーザーのメリット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108192" y="4700016"/>
            <a:ext cx="193852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現地限定感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スマホだけで簡単購入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在庫確保 / 待ち時間削減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現地受取・配送を選べる</a:t>
            </a:r>
            <a:endParaRPr lang="en-US" sz="790" dirty="0"/>
          </a:p>
        </p:txBody>
      </p:sp>
      <p:sp>
        <p:nvSpPr>
          <p:cNvPr id="93" name="Shape 91"/>
          <p:cNvSpPr/>
          <p:nvPr/>
        </p:nvSpPr>
        <p:spPr>
          <a:xfrm>
            <a:off x="8668512" y="4297680"/>
            <a:ext cx="2542032" cy="1097280"/>
          </a:xfrm>
          <a:prstGeom prst="roundRect">
            <a:avLst>
              <a:gd name="adj" fmla="val 10000"/>
            </a:avLst>
          </a:prstGeom>
          <a:solidFill>
            <a:srgbClr val="EFFFF9"/>
          </a:solidFill>
          <a:ln w="12700">
            <a:solidFill>
              <a:srgbClr val="B8F2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51392" y="44622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事業者のメリット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851392" y="4700016"/>
            <a:ext cx="193852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大型機器不要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商品差し替えが容易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限定販売に強い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B203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在庫 / 受取 / 配送を管理</a:t>
            </a:r>
            <a:endParaRPr lang="en-US" sz="790" dirty="0"/>
          </a:p>
        </p:txBody>
      </p:sp>
      <p:sp>
        <p:nvSpPr>
          <p:cNvPr id="96" name="Shape 94"/>
          <p:cNvSpPr/>
          <p:nvPr/>
        </p:nvSpPr>
        <p:spPr>
          <a:xfrm>
            <a:off x="530352" y="6144768"/>
            <a:ext cx="11119104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6384" y="629107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88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FLOW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508760" y="6208776"/>
            <a:ext cx="310896" cy="310896"/>
          </a:xfrm>
          <a:prstGeom prst="ellipse">
            <a:avLst/>
          </a:prstGeom>
          <a:solidFill>
            <a:srgbClr val="12D6F3"/>
          </a:solidFill>
          <a:ln w="12700">
            <a:solidFill>
              <a:srgbClr val="12D6F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08760" y="62499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911096" y="621792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見る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2368296" y="62179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商品枠を選ぶ</a:t>
            </a:r>
            <a:endParaRPr lang="en-US" sz="740" dirty="0"/>
          </a:p>
        </p:txBody>
      </p:sp>
      <p:sp>
        <p:nvSpPr>
          <p:cNvPr id="102" name="Shape 100"/>
          <p:cNvSpPr/>
          <p:nvPr/>
        </p:nvSpPr>
        <p:spPr>
          <a:xfrm>
            <a:off x="3593592" y="6364224"/>
            <a:ext cx="384048" cy="0"/>
          </a:xfrm>
          <a:prstGeom prst="line">
            <a:avLst/>
          </a:prstGeom>
          <a:noFill/>
          <a:ln w="17780">
            <a:solidFill>
              <a:srgbClr val="A4DBE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4114800" y="6208776"/>
            <a:ext cx="310896" cy="31089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0" y="62499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4517136" y="621792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触れる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974336" y="62179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NFC / QR</a:t>
            </a:r>
            <a:endParaRPr lang="en-US" sz="740" dirty="0"/>
          </a:p>
        </p:txBody>
      </p:sp>
      <p:sp>
        <p:nvSpPr>
          <p:cNvPr id="107" name="Shape 105"/>
          <p:cNvSpPr/>
          <p:nvPr/>
        </p:nvSpPr>
        <p:spPr>
          <a:xfrm>
            <a:off x="6199632" y="6364224"/>
            <a:ext cx="384048" cy="0"/>
          </a:xfrm>
          <a:prstGeom prst="line">
            <a:avLst/>
          </a:prstGeom>
          <a:noFill/>
          <a:ln w="17780">
            <a:solidFill>
              <a:srgbClr val="A4DBE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6720840" y="6208776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20840" y="62499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7123176" y="621792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買う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580376" y="62179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決済・受取選択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8805672" y="6364224"/>
            <a:ext cx="384048" cy="0"/>
          </a:xfrm>
          <a:prstGeom prst="line">
            <a:avLst/>
          </a:prstGeom>
          <a:noFill/>
          <a:ln w="17780">
            <a:solidFill>
              <a:srgbClr val="A4DBEA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9326880" y="6208776"/>
            <a:ext cx="310896" cy="310896"/>
          </a:xfrm>
          <a:prstGeom prst="ellipse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326880" y="62499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9729216" y="621792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223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受け取る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10186416" y="62179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現地受取 / 配送</a:t>
            </a:r>
            <a:endParaRPr lang="en-US" sz="740" dirty="0"/>
          </a:p>
        </p:txBody>
      </p:sp>
      <p:sp>
        <p:nvSpPr>
          <p:cNvPr id="117" name="Text 115"/>
          <p:cNvSpPr/>
          <p:nvPr/>
        </p:nvSpPr>
        <p:spPr>
          <a:xfrm>
            <a:off x="548640" y="6656832"/>
            <a:ext cx="7498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B9DDE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活用：アイドル/アーティストグッズ・トレカ・イベント限定商品・観光地限定商品・ポップアップ・展示会・ライブ会場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Kaku Gothic P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2D自販機 提案書</dc:title>
  <dc:subject>2D自販機 提案書 v2</dc:subject>
  <dc:creator>Shiro-mini</dc:creator>
  <cp:lastModifiedBy>Shiro-mini</cp:lastModifiedBy>
  <cp:revision>1</cp:revision>
  <dcterms:created xsi:type="dcterms:W3CDTF">2026-05-09T12:28:04Z</dcterms:created>
  <dcterms:modified xsi:type="dcterms:W3CDTF">2026-05-09T12:28:04Z</dcterms:modified>
</cp:coreProperties>
</file>