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表紙では、いきなりPPTXではなく会話からプレビューを経て納品する思想を示す。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なぜ今、AIエージェントチームが必要かについて、要点を短く説明する。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導入コンセプトについて、要点を短く説明する。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まず作るべき最小構成について、要点を短く説明する。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成果物の品質ゲートについて、要点を短く説明する。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30日導入ロードマップについて、要点を短く説明する。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期待できる効果について、要点を短く説明する。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次のアクションについて、要点を短く説明する。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6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347472"/>
            <a:ext cx="6858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6708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01 / 24時間AIエージェントチーム運用OS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658368" y="1078992"/>
            <a:ext cx="75895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1720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24時間AIエージェントチーム運用OS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694944" y="2587752"/>
            <a:ext cx="7818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6708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AIエージェントを単発ツールではなく、役割・監視・品質ゲートを持つ常時稼働チームとして導入する。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13232" y="3675888"/>
            <a:ext cx="5303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F766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Artifact/HTML first, editable PPTX final.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713232" y="4800600"/>
            <a:ext cx="1874520" cy="0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13232" y="4956048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720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自然会話から開始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3182112" y="4800600"/>
            <a:ext cx="1874520" cy="0"/>
          </a:xfrm>
          <a:prstGeom prst="line">
            <a:avLst/>
          </a:prstGeom>
          <a:noFill/>
          <a:ln w="25400">
            <a:solidFill>
              <a:srgbClr val="0F766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182112" y="4956048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720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HTMLで速く確認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650992" y="4800600"/>
            <a:ext cx="1874520" cy="0"/>
          </a:xfrm>
          <a:prstGeom prst="line">
            <a:avLst/>
          </a:prstGeom>
          <a:noFill/>
          <a:ln w="25400">
            <a:solidFill>
              <a:srgbClr val="C2410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50992" y="4956048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720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本文はPowerPointで編集可能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8092440" y="6144768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C2410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HTML first -&gt; editable PPTX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347472"/>
            <a:ext cx="6858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6708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02 / 24時間AIエージェントチーム運用OS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658368" y="841248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720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なぜ今、AIエージェントチームが必要か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76656" y="1536192"/>
            <a:ext cx="8046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0F766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人手不足と意思決定速度の差が、事業成長のボトルネックになっている</a:t>
            </a:r>
            <a:endParaRPr lang="en-US" sz="1650" dirty="0"/>
          </a:p>
        </p:txBody>
      </p:sp>
      <p:sp>
        <p:nvSpPr>
          <p:cNvPr id="6" name="Shape 4"/>
          <p:cNvSpPr/>
          <p:nvPr/>
        </p:nvSpPr>
        <p:spPr>
          <a:xfrm>
            <a:off x="768096" y="2359152"/>
            <a:ext cx="2697480" cy="0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68096" y="2523744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2563E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Point 1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768096" y="2889504"/>
            <a:ext cx="2971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1720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人手不足と意思決定速度の差が、事業成長のボトルネックになっている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498848" y="2359152"/>
            <a:ext cx="2697480" cy="0"/>
          </a:xfrm>
          <a:prstGeom prst="line">
            <a:avLst/>
          </a:prstGeom>
          <a:noFill/>
          <a:ln w="25400">
            <a:solidFill>
              <a:srgbClr val="0F766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498848" y="2523744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2563E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Point 2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4498848" y="2889504"/>
            <a:ext cx="2971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1720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ChatGPT単体利用では、作業の継続・検証・引き継ぎが属人化する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229600" y="2359152"/>
            <a:ext cx="2697480" cy="0"/>
          </a:xfrm>
          <a:prstGeom prst="line">
            <a:avLst/>
          </a:prstGeom>
          <a:noFill/>
          <a:ln w="25400">
            <a:solidFill>
              <a:srgbClr val="C2410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0" y="2523744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2563E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Point 3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8229600" y="2889504"/>
            <a:ext cx="2971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1720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24時間動くAIチームなら、調査・実装・QA・報告を止めずに回せる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768096" y="3959352"/>
            <a:ext cx="2697480" cy="0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68096" y="4123944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2563E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Point 4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768096" y="4489704"/>
            <a:ext cx="2971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1720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重要なのはAIの賢さだけでなく、運用ルールと成果物の品質管理である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7818120" y="5989320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70" dirty="0">
                <a:solidFill>
                  <a:srgbClr val="66708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なぜ今、AIエージェントチームが必要かについて、要点を短く説明する。</a:t>
            </a:r>
            <a:endParaRPr lang="en-US" sz="87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347472"/>
            <a:ext cx="6858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6708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03 / 24時間AIエージェントチーム運用OS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658368" y="841248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720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導入コンセプト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76656" y="1536192"/>
            <a:ext cx="8046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0F766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人間: 方針、優先順位、承認、最終判断に集中する</a:t>
            </a:r>
            <a:endParaRPr lang="en-US" sz="1650" dirty="0"/>
          </a:p>
        </p:txBody>
      </p:sp>
      <p:sp>
        <p:nvSpPr>
          <p:cNvPr id="6" name="Shape 4"/>
          <p:cNvSpPr/>
          <p:nvPr/>
        </p:nvSpPr>
        <p:spPr>
          <a:xfrm>
            <a:off x="768096" y="2359152"/>
            <a:ext cx="2697480" cy="0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68096" y="2523744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2563E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人間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768096" y="2889504"/>
            <a:ext cx="2971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1720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方針、優先順位、承認、最終判断に集中する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498848" y="2359152"/>
            <a:ext cx="2697480" cy="0"/>
          </a:xfrm>
          <a:prstGeom prst="line">
            <a:avLst/>
          </a:prstGeom>
          <a:noFill/>
          <a:ln w="25400">
            <a:solidFill>
              <a:srgbClr val="0F766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498848" y="2523744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2563E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AI司令塔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4498848" y="2889504"/>
            <a:ext cx="2971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1720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目的分解、担当割り当て、進捗判断、ブロッカー解消を担う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229600" y="2359152"/>
            <a:ext cx="2697480" cy="0"/>
          </a:xfrm>
          <a:prstGeom prst="line">
            <a:avLst/>
          </a:prstGeom>
          <a:noFill/>
          <a:ln w="25400">
            <a:solidFill>
              <a:srgbClr val="C2410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0" y="2523744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2563E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実行AI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8229600" y="2889504"/>
            <a:ext cx="2971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1720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調査、実装、資料化、QA、監視などの専門タスクを並列処理する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768096" y="3959352"/>
            <a:ext cx="2697480" cy="0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68096" y="4123944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2563E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監査ログ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768096" y="4489704"/>
            <a:ext cx="2971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1720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何をしたか、なぜ止まったか、何が検証済みかを残す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7818120" y="5989320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70" dirty="0">
                <a:solidFill>
                  <a:srgbClr val="66708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導入コンセプトについて、要点を短く説明する。</a:t>
            </a:r>
            <a:endParaRPr lang="en-US" sz="87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347472"/>
            <a:ext cx="6858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6708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04 / 24時間AIエージェントチーム運用OS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658368" y="841248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720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まず作るべき最小構成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76656" y="1536192"/>
            <a:ext cx="8046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0F766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Intake: Discord/Telegram/フォームから依頼を受ける</a:t>
            </a:r>
            <a:endParaRPr lang="en-US" sz="1650" dirty="0"/>
          </a:p>
        </p:txBody>
      </p:sp>
      <p:sp>
        <p:nvSpPr>
          <p:cNvPr id="6" name="Shape 4"/>
          <p:cNvSpPr/>
          <p:nvPr/>
        </p:nvSpPr>
        <p:spPr>
          <a:xfrm>
            <a:off x="768096" y="2359152"/>
            <a:ext cx="2697480" cy="0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68096" y="2523744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2563E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Intake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768096" y="2889504"/>
            <a:ext cx="2971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1720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Discord/Telegram/フォームから依頼を受ける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498848" y="2359152"/>
            <a:ext cx="2697480" cy="0"/>
          </a:xfrm>
          <a:prstGeom prst="line">
            <a:avLst/>
          </a:prstGeom>
          <a:noFill/>
          <a:ln w="25400">
            <a:solidFill>
              <a:srgbClr val="0F766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498848" y="2523744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2563E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Task DB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4498848" y="2889504"/>
            <a:ext cx="2971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1720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依頼・担当・状態・成果物URL・検証結果を一元管理する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229600" y="2359152"/>
            <a:ext cx="2697480" cy="0"/>
          </a:xfrm>
          <a:prstGeom prst="line">
            <a:avLst/>
          </a:prstGeom>
          <a:noFill/>
          <a:ln w="25400">
            <a:solidFill>
              <a:srgbClr val="C2410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0" y="2523744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2563E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Agent Sessions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8229600" y="2889504"/>
            <a:ext cx="2971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1720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Claude/Codex/Gemini等を用途別に常駐させる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768096" y="3959352"/>
            <a:ext cx="2697480" cy="0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68096" y="4123944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2563E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Keeper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768096" y="4489704"/>
            <a:ext cx="2971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1720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IDLE、承認待ち、失敗、完了報告漏れを検知して再投入する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498848" y="3959352"/>
            <a:ext cx="2697480" cy="0"/>
          </a:xfrm>
          <a:prstGeom prst="line">
            <a:avLst/>
          </a:prstGeom>
          <a:noFill/>
          <a:ln w="25400">
            <a:solidFill>
              <a:srgbClr val="0F766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498848" y="4123944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2563E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Delivery Portal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4498848" y="4489704"/>
            <a:ext cx="2971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1720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成果物・検証ログ・ダウンロードを1URLで確認できるようにする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7818120" y="5989320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70" dirty="0">
                <a:solidFill>
                  <a:srgbClr val="66708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まず作るべき最小構成について、要点を短く説明する。</a:t>
            </a:r>
            <a:endParaRPr lang="en-US" sz="87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347472"/>
            <a:ext cx="6858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6708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05 / 24時間AIエージェントチーム運用OS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658368" y="841248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720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成果物の品質ゲート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76656" y="1536192"/>
            <a:ext cx="8046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0F766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Definition of Done: 目的達成、検証、公開URL、残ブロッカーを必須にする</a:t>
            </a:r>
            <a:endParaRPr lang="en-US" sz="1650" dirty="0"/>
          </a:p>
        </p:txBody>
      </p:sp>
      <p:sp>
        <p:nvSpPr>
          <p:cNvPr id="6" name="Shape 4"/>
          <p:cNvSpPr/>
          <p:nvPr/>
        </p:nvSpPr>
        <p:spPr>
          <a:xfrm>
            <a:off x="768096" y="2359152"/>
            <a:ext cx="2697480" cy="0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68096" y="2523744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2563E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Definition of Done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768096" y="2889504"/>
            <a:ext cx="2971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1720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目的達成、検証、公開URL、残ブロッカーを必須にする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498848" y="2359152"/>
            <a:ext cx="2697480" cy="0"/>
          </a:xfrm>
          <a:prstGeom prst="line">
            <a:avLst/>
          </a:prstGeom>
          <a:noFill/>
          <a:ln w="25400">
            <a:solidFill>
              <a:srgbClr val="0F766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498848" y="2523744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2563E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Non-final Rule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4498848" y="2889504"/>
            <a:ext cx="2971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1720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ローカル作業だけで終わらせず、公開・共有・確認まで進める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229600" y="2359152"/>
            <a:ext cx="2697480" cy="0"/>
          </a:xfrm>
          <a:prstGeom prst="line">
            <a:avLst/>
          </a:prstGeom>
          <a:noFill/>
          <a:ln w="25400">
            <a:solidFill>
              <a:srgbClr val="C2410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0" y="2523744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2563E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Verification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8229600" y="2889504"/>
            <a:ext cx="2971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1720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テスト、ブラウザ確認、API疎通、スクリーンショットを証拠化する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768096" y="3959352"/>
            <a:ext cx="2697480" cy="0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68096" y="4123944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2563E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Safety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768096" y="4489704"/>
            <a:ext cx="2971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1720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本番変更・削除・課金増・機密投入だけ人間承認に戻す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7818120" y="5989320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70" dirty="0">
                <a:solidFill>
                  <a:srgbClr val="66708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成果物の品質ゲートについて、要点を短く説明する。</a:t>
            </a:r>
            <a:endParaRPr lang="en-US" sz="87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347472"/>
            <a:ext cx="6858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6708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06 / 24時間AIエージェントチーム運用OS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658368" y="841248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720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30日導入ロードマップ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76656" y="1536192"/>
            <a:ext cx="8046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0F766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Week 1: 依頼受付、タスクDB、基本エージェント、報告テンプレを整備する</a:t>
            </a:r>
            <a:endParaRPr lang="en-US" sz="1650" dirty="0"/>
          </a:p>
        </p:txBody>
      </p:sp>
      <p:sp>
        <p:nvSpPr>
          <p:cNvPr id="6" name="Shape 4"/>
          <p:cNvSpPr/>
          <p:nvPr/>
        </p:nvSpPr>
        <p:spPr>
          <a:xfrm>
            <a:off x="768096" y="2359152"/>
            <a:ext cx="2697480" cy="0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68096" y="2523744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2563E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Week 1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768096" y="2889504"/>
            <a:ext cx="2971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1720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依頼受付、タスクDB、基本エージェント、報告テンプレを整備する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498848" y="2359152"/>
            <a:ext cx="2697480" cy="0"/>
          </a:xfrm>
          <a:prstGeom prst="line">
            <a:avLst/>
          </a:prstGeom>
          <a:noFill/>
          <a:ln w="25400">
            <a:solidFill>
              <a:srgbClr val="0F766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498848" y="2523744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2563E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Week 2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4498848" y="2889504"/>
            <a:ext cx="2971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1720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主要業務1つを選び、調査→実装→QA→公開まで自動化する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229600" y="2359152"/>
            <a:ext cx="2697480" cy="0"/>
          </a:xfrm>
          <a:prstGeom prst="line">
            <a:avLst/>
          </a:prstGeom>
          <a:noFill/>
          <a:ln w="25400">
            <a:solidFill>
              <a:srgbClr val="C2410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0" y="2523744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2563E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Week 3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8229600" y="2889504"/>
            <a:ext cx="2971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1720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監視・再投入・失敗時レポートを追加し、止まらない運用にする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768096" y="3959352"/>
            <a:ext cx="2697480" cy="0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68096" y="4123944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2563E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Week 4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768096" y="4489704"/>
            <a:ext cx="2971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1720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KPI、コスト、成果物品質を振り返り、本番業務へ拡張する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7818120" y="5989320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70" dirty="0">
                <a:solidFill>
                  <a:srgbClr val="66708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30日導入ロードマップについて、要点を短く説明する。</a:t>
            </a:r>
            <a:endParaRPr lang="en-US" sz="87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347472"/>
            <a:ext cx="6858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6708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07 / 24時間AIエージェントチーム運用OS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658368" y="841248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720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期待できる効果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76656" y="1536192"/>
            <a:ext cx="8046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0F766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調査から初期成果物までのリードタイムを短縮する</a:t>
            </a:r>
            <a:endParaRPr lang="en-US" sz="1650" dirty="0"/>
          </a:p>
        </p:txBody>
      </p:sp>
      <p:sp>
        <p:nvSpPr>
          <p:cNvPr id="6" name="Shape 4"/>
          <p:cNvSpPr/>
          <p:nvPr/>
        </p:nvSpPr>
        <p:spPr>
          <a:xfrm>
            <a:off x="768096" y="2359152"/>
            <a:ext cx="2697480" cy="0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68096" y="2523744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2563E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Point 1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768096" y="2889504"/>
            <a:ext cx="2971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1720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調査から初期成果物までのリードタイムを短縮する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498848" y="2359152"/>
            <a:ext cx="2697480" cy="0"/>
          </a:xfrm>
          <a:prstGeom prst="line">
            <a:avLst/>
          </a:prstGeom>
          <a:noFill/>
          <a:ln w="25400">
            <a:solidFill>
              <a:srgbClr val="0F766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498848" y="2523744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2563E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Point 2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4498848" y="2889504"/>
            <a:ext cx="2971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1720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進捗不明、担当不明、完了報告漏れを減らす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229600" y="2359152"/>
            <a:ext cx="2697480" cy="0"/>
          </a:xfrm>
          <a:prstGeom prst="line">
            <a:avLst/>
          </a:prstGeom>
          <a:noFill/>
          <a:ln w="25400">
            <a:solidFill>
              <a:srgbClr val="C2410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0" y="2523744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2563E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Point 3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8229600" y="2889504"/>
            <a:ext cx="2971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1720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小さな改善を24時間積み上げ、事業の試行回数を増やす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768096" y="3959352"/>
            <a:ext cx="2697480" cy="0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68096" y="4123944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2563E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Point 4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768096" y="4489704"/>
            <a:ext cx="2971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1720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人間は判断と創造に寄せ、AIは継続作業と検証を担う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7818120" y="5989320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70" dirty="0">
                <a:solidFill>
                  <a:srgbClr val="66708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期待できる効果について、要点を短く説明する。</a:t>
            </a:r>
            <a:endParaRPr lang="en-US" sz="87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347472"/>
            <a:ext cx="6858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6708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08 / 24時間AIエージェントチーム運用OS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658368" y="841248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720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次のアクション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76656" y="1536192"/>
            <a:ext cx="8046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0F766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まず1業務を選ぶ: 資料作成、営業リサーチ、QA、監視のどれか</a:t>
            </a:r>
            <a:endParaRPr lang="en-US" sz="1650" dirty="0"/>
          </a:p>
        </p:txBody>
      </p:sp>
      <p:sp>
        <p:nvSpPr>
          <p:cNvPr id="6" name="Shape 4"/>
          <p:cNvSpPr/>
          <p:nvPr/>
        </p:nvSpPr>
        <p:spPr>
          <a:xfrm>
            <a:off x="749808" y="2350008"/>
            <a:ext cx="310896" cy="310896"/>
          </a:xfrm>
          <a:prstGeom prst="ellipse">
            <a:avLst/>
          </a:prstGeom>
          <a:solidFill>
            <a:srgbClr val="172033"/>
          </a:solidFill>
          <a:ln w="12700">
            <a:solidFill>
              <a:srgbClr val="1720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" y="2414016"/>
            <a:ext cx="3108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225296" y="2313432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20" dirty="0">
                <a:solidFill>
                  <a:srgbClr val="1720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まず1業務を選ぶ: 資料作成、営業リサーチ、QA、監視のどれか</a:t>
            </a:r>
            <a:endParaRPr lang="en-US" sz="1520" dirty="0"/>
          </a:p>
        </p:txBody>
      </p:sp>
      <p:sp>
        <p:nvSpPr>
          <p:cNvPr id="9" name="Shape 7"/>
          <p:cNvSpPr/>
          <p:nvPr/>
        </p:nvSpPr>
        <p:spPr>
          <a:xfrm>
            <a:off x="6190488" y="2350008"/>
            <a:ext cx="310896" cy="310896"/>
          </a:xfrm>
          <a:prstGeom prst="ellipse">
            <a:avLst/>
          </a:prstGeom>
          <a:solidFill>
            <a:srgbClr val="172033"/>
          </a:solidFill>
          <a:ln w="12700">
            <a:solidFill>
              <a:srgbClr val="1720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190488" y="2414016"/>
            <a:ext cx="3108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6665976" y="2313432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20" dirty="0">
                <a:solidFill>
                  <a:srgbClr val="1720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成果物の公開URLと検証項目を先に決める</a:t>
            </a:r>
            <a:endParaRPr lang="en-US" sz="1520" dirty="0"/>
          </a:p>
        </p:txBody>
      </p:sp>
      <p:sp>
        <p:nvSpPr>
          <p:cNvPr id="12" name="Shape 10"/>
          <p:cNvSpPr/>
          <p:nvPr/>
        </p:nvSpPr>
        <p:spPr>
          <a:xfrm>
            <a:off x="749808" y="3465576"/>
            <a:ext cx="310896" cy="310896"/>
          </a:xfrm>
          <a:prstGeom prst="ellipse">
            <a:avLst/>
          </a:prstGeom>
          <a:solidFill>
            <a:srgbClr val="172033"/>
          </a:solidFill>
          <a:ln w="12700">
            <a:solidFill>
              <a:srgbClr val="1720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49808" y="3529584"/>
            <a:ext cx="3108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1225296" y="342900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20" dirty="0">
                <a:solidFill>
                  <a:srgbClr val="1720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2週間でPoCを作り、作業時間・品質・報告負荷を測定する</a:t>
            </a:r>
            <a:endParaRPr lang="en-US" sz="1520" dirty="0"/>
          </a:p>
        </p:txBody>
      </p:sp>
      <p:sp>
        <p:nvSpPr>
          <p:cNvPr id="15" name="Shape 13"/>
          <p:cNvSpPr/>
          <p:nvPr/>
        </p:nvSpPr>
        <p:spPr>
          <a:xfrm>
            <a:off x="6190488" y="3465576"/>
            <a:ext cx="310896" cy="310896"/>
          </a:xfrm>
          <a:prstGeom prst="ellipse">
            <a:avLst/>
          </a:prstGeom>
          <a:solidFill>
            <a:srgbClr val="172033"/>
          </a:solidFill>
          <a:ln w="12700">
            <a:solidFill>
              <a:srgbClr val="1720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90488" y="3529584"/>
            <a:ext cx="3108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6665976" y="342900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20" dirty="0">
                <a:solidFill>
                  <a:srgbClr val="1720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効果が出た領域から、担当AIと自動化範囲を増やす</a:t>
            </a:r>
            <a:endParaRPr lang="en-US" sz="1520" dirty="0"/>
          </a:p>
        </p:txBody>
      </p:sp>
      <p:sp>
        <p:nvSpPr>
          <p:cNvPr id="18" name="Text 16"/>
          <p:cNvSpPr/>
          <p:nvPr/>
        </p:nvSpPr>
        <p:spPr>
          <a:xfrm>
            <a:off x="7818120" y="5989320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70" dirty="0">
                <a:solidFill>
                  <a:srgbClr val="66708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次のアクションについて、要点を短く説明する。</a:t>
            </a:r>
            <a:endParaRPr lang="en-US" sz="87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Yu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Yu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OpenClaw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24時間AIエージェントチーム運用OS</dc:title>
  <dc:subject>Artifact-first slide workflow</dc:subject>
  <dc:creator>Shiro Slide Studio</dc:creator>
  <cp:lastModifiedBy>Shiro Slide Studio</cp:lastModifiedBy>
  <cp:revision>1</cp:revision>
  <dcterms:created xsi:type="dcterms:W3CDTF">2026-05-21T08:51:56Z</dcterms:created>
  <dcterms:modified xsi:type="dcterms:W3CDTF">2026-05-21T08:51:56Z</dcterms:modified>
</cp:coreProperties>
</file>