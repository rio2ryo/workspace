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74320" y="164592"/>
            <a:ext cx="11640312" cy="0"/>
          </a:xfrm>
          <a:prstGeom prst="line">
            <a:avLst/>
          </a:prstGeom>
          <a:ln w="12700">
            <a:solidFill>
              <a:srgbClr val="AA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74320" y="292608"/>
            <a:ext cx="11640312" cy="0"/>
          </a:xfrm>
          <a:prstGeom prst="line">
            <a:avLst/>
          </a:prstGeom>
          <a:ln w="12700">
            <a:solidFill>
              <a:srgbClr val="AA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4320" y="6565392"/>
            <a:ext cx="11640312" cy="0"/>
          </a:xfrm>
          <a:prstGeom prst="line">
            <a:avLst/>
          </a:prstGeom>
          <a:ln w="12700">
            <a:solidFill>
              <a:srgbClr val="AA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" y="6693408"/>
            <a:ext cx="11640312" cy="0"/>
          </a:xfrm>
          <a:prstGeom prst="line">
            <a:avLst/>
          </a:prstGeom>
          <a:ln w="12700">
            <a:solidFill>
              <a:srgbClr val="AA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" y="256032"/>
            <a:ext cx="11548872" cy="932688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008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256032"/>
            <a:ext cx="11548872" cy="256032"/>
          </a:xfrm>
          <a:prstGeom prst="roundRect">
            <a:avLst/>
          </a:prstGeom>
          <a:solidFill>
            <a:srgbClr val="008092"/>
          </a:solidFill>
          <a:ln>
            <a:solidFill>
              <a:srgbClr val="008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31089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Yu Gothic"/>
              </a:rPr>
              <a:t>提案資料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585216"/>
            <a:ext cx="5029200" cy="42062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2800" b="1">
                <a:solidFill>
                  <a:srgbClr val="0E3046"/>
                </a:solidFill>
                <a:latin typeface="Yu Gothic"/>
              </a:rPr>
              <a:t>2D自販機 導入提案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630936"/>
            <a:ext cx="6355080" cy="32918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r"/>
            <a:r>
              <a:rPr sz="1700" b="1">
                <a:solidFill>
                  <a:srgbClr val="008092"/>
                </a:solidFill>
                <a:latin typeface="Yu Gothic"/>
              </a:rPr>
              <a:t>NFCタッチ購入 × オンライン受取 / 現地受取対応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389888"/>
            <a:ext cx="3383280" cy="1965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A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1051560" cy="292608"/>
          </a:xfrm>
          <a:prstGeom prst="roundRect">
            <a:avLst/>
          </a:prstGeom>
          <a:solidFill>
            <a:srgbClr val="008092"/>
          </a:solidFill>
          <a:ln>
            <a:solidFill>
              <a:srgbClr val="008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1051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20240"/>
            <a:ext cx="2971800" cy="34747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800" b="1">
                <a:solidFill>
                  <a:srgbClr val="004D5C"/>
                </a:solidFill>
                <a:latin typeface="Yu Gothic"/>
              </a:rPr>
              <a:t>スマホをタッチして購入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04288"/>
            <a:ext cx="2971800" cy="80467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150" b="0">
                <a:solidFill>
                  <a:srgbClr val="192B34"/>
                </a:solidFill>
                <a:latin typeface="Yu Gothic"/>
              </a:rPr>
              <a:t>リアルな商品展示を2D化し、各商品にNFCタッチ導線を付与。利用者はスマホを近づけるだけで購入画面へ進めます。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547872"/>
            <a:ext cx="338328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A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730752"/>
            <a:ext cx="1143000" cy="292608"/>
          </a:xfrm>
          <a:prstGeom prst="roundRect">
            <a:avLst/>
          </a:prstGeom>
          <a:solidFill>
            <a:srgbClr val="EC9126"/>
          </a:solidFill>
          <a:ln>
            <a:solidFill>
              <a:srgbClr val="EC9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49039"/>
            <a:ext cx="1143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POINTS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" y="4187952"/>
            <a:ext cx="347472" cy="347472"/>
          </a:xfrm>
          <a:prstGeom prst="ellipse">
            <a:avLst/>
          </a:prstGeom>
          <a:solidFill>
            <a:srgbClr val="1EADC3"/>
          </a:solidFill>
          <a:ln>
            <a:solidFill>
              <a:srgbClr val="1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219956"/>
            <a:ext cx="347472" cy="16459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169664"/>
            <a:ext cx="2560320" cy="228600"/>
          </a:xfrm>
          <a:prstGeom prst="rect">
            <a:avLst/>
          </a:prstGeom>
          <a:noFill/>
        </p:spPr>
        <p:txBody>
          <a:bodyPr wrap="square" anchor="t" lIns="73152" rIns="73152" tIns="18288" bIns="18288">
            <a:spAutoFit/>
          </a:bodyPr>
          <a:lstStyle/>
          <a:p>
            <a:pPr algn="l"/>
            <a:r>
              <a:rPr sz="1300" b="1">
                <a:solidFill>
                  <a:srgbClr val="192B34"/>
                </a:solidFill>
                <a:latin typeface="Yu Gothic"/>
              </a:rPr>
              <a:t>省スペース化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4416552"/>
            <a:ext cx="2651760" cy="384048"/>
          </a:xfrm>
          <a:prstGeom prst="rect">
            <a:avLst/>
          </a:prstGeom>
          <a:noFill/>
        </p:spPr>
        <p:txBody>
          <a:bodyPr wrap="square" anchor="t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4C6069"/>
                </a:solidFill>
                <a:latin typeface="Yu Gothic"/>
              </a:rPr>
              <a:t>掲示面だけで販売導線を設置可能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" y="4736592"/>
            <a:ext cx="347472" cy="347472"/>
          </a:xfrm>
          <a:prstGeom prst="ellipse">
            <a:avLst/>
          </a:prstGeom>
          <a:solidFill>
            <a:srgbClr val="EC9126"/>
          </a:solidFill>
          <a:ln>
            <a:solidFill>
              <a:srgbClr val="EC9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768596"/>
            <a:ext cx="347472" cy="16459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4718304"/>
            <a:ext cx="2560320" cy="228600"/>
          </a:xfrm>
          <a:prstGeom prst="rect">
            <a:avLst/>
          </a:prstGeom>
          <a:noFill/>
        </p:spPr>
        <p:txBody>
          <a:bodyPr wrap="square" anchor="t" lIns="73152" rIns="73152" tIns="18288" bIns="18288">
            <a:spAutoFit/>
          </a:bodyPr>
          <a:lstStyle/>
          <a:p>
            <a:pPr algn="l"/>
            <a:r>
              <a:rPr sz="1300" b="1">
                <a:solidFill>
                  <a:srgbClr val="192B34"/>
                </a:solidFill>
                <a:latin typeface="Yu Gothic"/>
              </a:rPr>
              <a:t>QRコード削除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4965192"/>
            <a:ext cx="2651760" cy="384048"/>
          </a:xfrm>
          <a:prstGeom prst="rect">
            <a:avLst/>
          </a:prstGeom>
          <a:noFill/>
        </p:spPr>
        <p:txBody>
          <a:bodyPr wrap="square" anchor="t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4C6069"/>
                </a:solidFill>
                <a:latin typeface="Yu Gothic"/>
              </a:rPr>
              <a:t>NFCタッチ中心で案内を整理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" y="5285232"/>
            <a:ext cx="347472" cy="347472"/>
          </a:xfrm>
          <a:prstGeom prst="ellipse">
            <a:avLst/>
          </a:prstGeom>
          <a:solidFill>
            <a:srgbClr val="1C965F"/>
          </a:solidFill>
          <a:ln>
            <a:solidFill>
              <a:srgbClr val="1C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317236"/>
            <a:ext cx="347472" cy="16459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" y="5266944"/>
            <a:ext cx="2560320" cy="228600"/>
          </a:xfrm>
          <a:prstGeom prst="rect">
            <a:avLst/>
          </a:prstGeom>
          <a:noFill/>
        </p:spPr>
        <p:txBody>
          <a:bodyPr wrap="square" anchor="t" lIns="73152" rIns="73152" tIns="18288" bIns="18288">
            <a:spAutoFit/>
          </a:bodyPr>
          <a:lstStyle/>
          <a:p>
            <a:pPr algn="l"/>
            <a:r>
              <a:rPr sz="1300" b="1">
                <a:solidFill>
                  <a:srgbClr val="192B34"/>
                </a:solidFill>
                <a:latin typeface="Yu Gothic"/>
              </a:rPr>
              <a:t>受取方法を選択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5513832"/>
            <a:ext cx="2651760" cy="384048"/>
          </a:xfrm>
          <a:prstGeom prst="rect">
            <a:avLst/>
          </a:prstGeom>
          <a:noFill/>
        </p:spPr>
        <p:txBody>
          <a:bodyPr wrap="square" anchor="t" lIns="73152" rIns="73152" tIns="18288" bIns="18288">
            <a:spAutoFit/>
          </a:bodyPr>
          <a:lstStyle/>
          <a:p>
            <a:pPr algn="l"/>
            <a:r>
              <a:rPr sz="950" b="0">
                <a:solidFill>
                  <a:srgbClr val="4C6069"/>
                </a:solidFill>
                <a:latin typeface="Yu Gothic"/>
              </a:rPr>
              <a:t>オンライン受取・現地受取に対応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1389888"/>
            <a:ext cx="3886200" cy="44439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08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1572768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300" b="1">
                <a:solidFill>
                  <a:srgbClr val="008092"/>
                </a:solidFill>
                <a:latin typeface="Yu Gothic"/>
              </a:rPr>
              <a:t>完成イメージ</a:t>
            </a:r>
          </a:p>
        </p:txBody>
      </p:sp>
      <p:pic>
        <p:nvPicPr>
          <p:cNvPr id="33" name="Picture 32" descr="2d-vending-machine-qr-removed-receive-online-onsite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865376"/>
            <a:ext cx="2600980" cy="367588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60520" y="5550408"/>
            <a:ext cx="3520440" cy="14630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880" b="0">
                <a:solidFill>
                  <a:srgbClr val="4C6069"/>
                </a:solidFill>
                <a:latin typeface="Yu Gothic"/>
              </a:rPr>
              <a:t>右下QRコードを削除し、受取方法案内へ置き換え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1389888"/>
            <a:ext cx="3703320" cy="19659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A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57031" y="1572768"/>
            <a:ext cx="1051560" cy="292608"/>
          </a:xfrm>
          <a:prstGeom prst="roundRect">
            <a:avLst/>
          </a:prstGeom>
          <a:solidFill>
            <a:srgbClr val="008092"/>
          </a:solidFill>
          <a:ln>
            <a:solidFill>
              <a:srgbClr val="008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1591056"/>
            <a:ext cx="1051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FLOW</a:t>
            </a:r>
          </a:p>
        </p:txBody>
      </p:sp>
      <p:sp>
        <p:nvSpPr>
          <p:cNvPr id="38" name="Oval 37"/>
          <p:cNvSpPr/>
          <p:nvPr/>
        </p:nvSpPr>
        <p:spPr>
          <a:xfrm>
            <a:off x="8394192" y="2029968"/>
            <a:ext cx="566928" cy="566928"/>
          </a:xfrm>
          <a:prstGeom prst="ellipse">
            <a:avLst/>
          </a:prstGeom>
          <a:solidFill>
            <a:srgbClr val="1EADC3"/>
          </a:solidFill>
          <a:ln>
            <a:solidFill>
              <a:srgbClr val="1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213969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2697480"/>
            <a:ext cx="960120" cy="32918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050" b="1">
                <a:solidFill>
                  <a:srgbClr val="192B34"/>
                </a:solidFill>
                <a:latin typeface="Yu Gothic"/>
              </a:rPr>
              <a:t>商品を選ぶ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052560" y="2313432"/>
            <a:ext cx="347472" cy="0"/>
          </a:xfrm>
          <a:prstGeom prst="line">
            <a:avLst/>
          </a:prstGeom>
          <a:ln w="25400">
            <a:solidFill>
              <a:srgbClr val="AA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491472" y="2029968"/>
            <a:ext cx="566928" cy="566928"/>
          </a:xfrm>
          <a:prstGeom prst="ellipse">
            <a:avLst/>
          </a:prstGeom>
          <a:solidFill>
            <a:srgbClr val="EC9126"/>
          </a:solidFill>
          <a:ln>
            <a:solidFill>
              <a:srgbClr val="EC9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1472" y="213969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0304" y="2697480"/>
            <a:ext cx="960120" cy="32918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050" b="1">
                <a:solidFill>
                  <a:srgbClr val="192B34"/>
                </a:solidFill>
                <a:latin typeface="Yu Gothic"/>
              </a:rPr>
              <a:t>スマホをタッチ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149840" y="2313432"/>
            <a:ext cx="347472" cy="0"/>
          </a:xfrm>
          <a:prstGeom prst="line">
            <a:avLst/>
          </a:prstGeom>
          <a:ln w="25400">
            <a:solidFill>
              <a:srgbClr val="AA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588752" y="2029968"/>
            <a:ext cx="566928" cy="566928"/>
          </a:xfrm>
          <a:prstGeom prst="ellipse">
            <a:avLst/>
          </a:prstGeom>
          <a:solidFill>
            <a:srgbClr val="1C965F"/>
          </a:solidFill>
          <a:ln>
            <a:solidFill>
              <a:srgbClr val="1C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88752" y="213969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87584" y="2697480"/>
            <a:ext cx="960120" cy="329184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050" b="1">
                <a:solidFill>
                  <a:srgbClr val="192B34"/>
                </a:solidFill>
                <a:latin typeface="Yu Gothic"/>
              </a:rPr>
              <a:t>購入・受取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017520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980" b="0">
                <a:solidFill>
                  <a:srgbClr val="4C6069"/>
                </a:solidFill>
                <a:latin typeface="Yu Gothic"/>
              </a:rPr>
              <a:t>決済後、オンライン受取または現地受取を選択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74152" y="3547872"/>
            <a:ext cx="370332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A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57031" y="3730752"/>
            <a:ext cx="1170432" cy="292608"/>
          </a:xfrm>
          <a:prstGeom prst="roundRect">
            <a:avLst/>
          </a:prstGeom>
          <a:solidFill>
            <a:srgbClr val="1C965F"/>
          </a:solidFill>
          <a:ln>
            <a:solidFill>
              <a:srgbClr val="1C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1" y="3749039"/>
            <a:ext cx="11704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</a:rPr>
              <a:t>MERITS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02752" y="4160520"/>
            <a:ext cx="292608" cy="292608"/>
          </a:xfrm>
          <a:prstGeom prst="roundRect">
            <a:avLst/>
          </a:prstGeom>
          <a:solidFill>
            <a:srgbClr val="1EADC3"/>
          </a:solidFill>
          <a:ln>
            <a:solidFill>
              <a:srgbClr val="1EA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4142232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50" b="1">
                <a:solidFill>
                  <a:srgbClr val="192B34"/>
                </a:solidFill>
                <a:latin typeface="Yu Gothic"/>
              </a:rPr>
              <a:t>販売機会を増やす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3891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30" b="0">
                <a:solidFill>
                  <a:srgbClr val="4C6069"/>
                </a:solidFill>
                <a:latin typeface="Yu Gothic"/>
              </a:rPr>
              <a:t>イベント・店舗・展示会など限られたスペースでも展開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02752" y="4690872"/>
            <a:ext cx="292608" cy="292608"/>
          </a:xfrm>
          <a:prstGeom prst="roundRect">
            <a:avLst/>
          </a:prstGeom>
          <a:solidFill>
            <a:srgbClr val="EC9126"/>
          </a:solidFill>
          <a:ln>
            <a:solidFill>
              <a:srgbClr val="EC9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32520" y="4672584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50" b="1">
                <a:solidFill>
                  <a:srgbClr val="192B34"/>
                </a:solidFill>
                <a:latin typeface="Yu Gothic"/>
              </a:rPr>
              <a:t>運用負荷を下げる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4919472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30" b="0">
                <a:solidFill>
                  <a:srgbClr val="4C6069"/>
                </a:solidFill>
                <a:latin typeface="Yu Gothic"/>
              </a:rPr>
              <a:t>NFC中心の導線で、購入までの迷いを削減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02752" y="5221224"/>
            <a:ext cx="292608" cy="292608"/>
          </a:xfrm>
          <a:prstGeom prst="roundRect">
            <a:avLst/>
          </a:prstGeom>
          <a:solidFill>
            <a:srgbClr val="1C965F"/>
          </a:solidFill>
          <a:ln>
            <a:solidFill>
              <a:srgbClr val="1C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32520" y="5202936"/>
            <a:ext cx="2697480" cy="219456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1250" b="1">
                <a:solidFill>
                  <a:srgbClr val="192B34"/>
                </a:solidFill>
                <a:latin typeface="Yu Gothic"/>
              </a:rPr>
              <a:t>受取体験を選べる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5449824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l"/>
            <a:r>
              <a:rPr sz="930" b="0">
                <a:solidFill>
                  <a:srgbClr val="4C6069"/>
                </a:solidFill>
                <a:latin typeface="Yu Gothic"/>
              </a:rPr>
              <a:t>オンライン受取と現地受取の両方に対応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5989320"/>
            <a:ext cx="11365992" cy="438912"/>
          </a:xfrm>
          <a:prstGeom prst="roundRect">
            <a:avLst/>
          </a:prstGeom>
          <a:solidFill>
            <a:srgbClr val="008092"/>
          </a:solidFill>
          <a:ln>
            <a:solidFill>
              <a:srgbClr val="0080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6108192"/>
            <a:ext cx="10835640" cy="164592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Yu Gothic"/>
              </a:rPr>
              <a:t>提案ポイント：QRコードに頼らず、NFCタッチ購入と「オンライン / 現地受取」の選択肢を一枚で伝える2D自販機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