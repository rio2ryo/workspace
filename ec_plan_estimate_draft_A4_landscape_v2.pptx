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0689336" cy="768096"/>
          </a:xfrm>
          <a:prstGeom prst="rect">
            <a:avLst/>
          </a:prstGeom>
          <a:solidFill>
            <a:srgbClr val="16233A"/>
          </a:solidFill>
          <a:ln w="12700">
            <a:solidFill>
              <a:srgbClr val="16233A"/>
            </a:solidFill>
            <a:prstDash val="solid"/>
          </a:ln>
        </p:spPr>
      </p:sp>
      <p:sp>
        <p:nvSpPr>
          <p:cNvPr id="3" name="Text 1"/>
          <p:cNvSpPr/>
          <p:nvPr/>
        </p:nvSpPr>
        <p:spPr>
          <a:xfrm>
            <a:off x="329184" y="164592"/>
            <a:ext cx="5760720" cy="347472"/>
          </a:xfrm>
          <a:prstGeom prst="rect">
            <a:avLst/>
          </a:prstGeom>
          <a:noFill/>
          <a:ln/>
        </p:spPr>
        <p:txBody>
          <a:bodyPr wrap="square" lIns="508" tIns="508" rIns="508" bIns="508" rtlCol="0" anchor="t">
            <a:normAutofit/>
          </a:bodyPr>
          <a:lstStyle/>
          <a:p>
            <a:pPr algn="l" indent="0" marL="0">
              <a:buNone/>
            </a:pPr>
            <a:r>
              <a:rPr lang="en-US" sz="2200" b="1" dirty="0">
                <a:solidFill>
                  <a:srgbClr val="FFFFFF"/>
                </a:solidFill>
                <a:latin typeface="Yu Gothic" pitchFamily="34" charset="0"/>
                <a:ea typeface="Yu Gothic" pitchFamily="34" charset="-122"/>
                <a:cs typeface="Yu Gothic" pitchFamily="34" charset="-120"/>
              </a:rPr>
              <a:t>EC構築・運用プラン 見積書</a:t>
            </a:r>
            <a:endParaRPr lang="en-US" sz="2200" dirty="0"/>
          </a:p>
        </p:txBody>
      </p:sp>
      <p:sp>
        <p:nvSpPr>
          <p:cNvPr id="4" name="Text 2"/>
          <p:cNvSpPr/>
          <p:nvPr/>
        </p:nvSpPr>
        <p:spPr>
          <a:xfrm>
            <a:off x="6355080" y="228600"/>
            <a:ext cx="3977640" cy="219456"/>
          </a:xfrm>
          <a:prstGeom prst="rect">
            <a:avLst/>
          </a:prstGeom>
          <a:noFill/>
          <a:ln/>
        </p:spPr>
        <p:txBody>
          <a:bodyPr wrap="square" lIns="508" tIns="508" rIns="508" bIns="508" rtlCol="0" anchor="t">
            <a:normAutofit/>
          </a:bodyPr>
          <a:lstStyle/>
          <a:p>
            <a:pPr algn="r" indent="0" marL="0">
              <a:buNone/>
            </a:pPr>
            <a:r>
              <a:rPr lang="en-US" sz="1050" dirty="0">
                <a:solidFill>
                  <a:srgbClr val="DCE6F8"/>
                </a:solidFill>
                <a:latin typeface="Yu Gothic" pitchFamily="34" charset="0"/>
                <a:ea typeface="Yu Gothic" pitchFamily="34" charset="-122"/>
                <a:cs typeface="Yu Gothic" pitchFamily="34" charset="-120"/>
              </a:rPr>
              <a:t>ミニマムで開始するための初期構築プラン</a:t>
            </a:r>
            <a:endParaRPr lang="en-US" sz="1050" dirty="0"/>
          </a:p>
        </p:txBody>
      </p:sp>
      <p:sp>
        <p:nvSpPr>
          <p:cNvPr id="5" name="Shape 3"/>
          <p:cNvSpPr/>
          <p:nvPr/>
        </p:nvSpPr>
        <p:spPr>
          <a:xfrm>
            <a:off x="347472" y="950976"/>
            <a:ext cx="9985248" cy="566928"/>
          </a:xfrm>
          <a:prstGeom prst="roundRect">
            <a:avLst>
              <a:gd name="adj" fmla="val 19355"/>
            </a:avLst>
          </a:prstGeom>
          <a:solidFill>
            <a:srgbClr val="FFFFFF"/>
          </a:solidFill>
          <a:ln w="12700">
            <a:solidFill>
              <a:srgbClr val="D8DEE8"/>
            </a:solidFill>
            <a:prstDash val="solid"/>
          </a:ln>
        </p:spPr>
      </p:sp>
      <p:sp>
        <p:nvSpPr>
          <p:cNvPr id="6" name="Text 4"/>
          <p:cNvSpPr/>
          <p:nvPr/>
        </p:nvSpPr>
        <p:spPr>
          <a:xfrm>
            <a:off x="566928" y="1097280"/>
            <a:ext cx="9509760" cy="228600"/>
          </a:xfrm>
          <a:prstGeom prst="rect">
            <a:avLst/>
          </a:prstGeom>
          <a:noFill/>
          <a:ln/>
        </p:spPr>
        <p:txBody>
          <a:bodyPr wrap="square" lIns="508" tIns="508" rIns="508" bIns="508" rtlCol="0" anchor="t">
            <a:normAutofit/>
          </a:bodyPr>
          <a:lstStyle/>
          <a:p>
            <a:pPr algn="l" indent="0" marL="0">
              <a:buNone/>
            </a:pPr>
            <a:r>
              <a:rPr lang="en-US" sz="1050" dirty="0">
                <a:solidFill>
                  <a:srgbClr val="111827"/>
                </a:solidFill>
                <a:latin typeface="Yu Gothic" pitchFamily="34" charset="0"/>
                <a:ea typeface="Yu Gothic" pitchFamily="34" charset="-122"/>
                <a:cs typeface="Yu Gothic" pitchFamily="34" charset="-120"/>
              </a:rPr>
              <a:t>本見積もりは、まずは基本的なEC機能・ロジ連携・動画掲載を備えたミニマム構成で開始するためのものです。コース内容はご要望に応じてカスタマイズ可能です。</a:t>
            </a:r>
            <a:endParaRPr lang="en-US" sz="1050" dirty="0"/>
          </a:p>
        </p:txBody>
      </p:sp>
      <p:sp>
        <p:nvSpPr>
          <p:cNvPr id="7" name="Shape 5"/>
          <p:cNvSpPr/>
          <p:nvPr/>
        </p:nvSpPr>
        <p:spPr>
          <a:xfrm>
            <a:off x="347472" y="1755648"/>
            <a:ext cx="3172968" cy="1719072"/>
          </a:xfrm>
          <a:prstGeom prst="roundRect">
            <a:avLst>
              <a:gd name="adj" fmla="val 7979"/>
            </a:avLst>
          </a:prstGeom>
          <a:solidFill>
            <a:srgbClr val="FFFFFF"/>
          </a:solidFill>
          <a:ln w="12700">
            <a:solidFill>
              <a:srgbClr val="D8DEE8"/>
            </a:solidFill>
            <a:prstDash val="solid"/>
          </a:ln>
        </p:spPr>
      </p:sp>
      <p:sp>
        <p:nvSpPr>
          <p:cNvPr id="8" name="Shape 6"/>
          <p:cNvSpPr/>
          <p:nvPr/>
        </p:nvSpPr>
        <p:spPr>
          <a:xfrm>
            <a:off x="493776" y="1901952"/>
            <a:ext cx="822960" cy="310896"/>
          </a:xfrm>
          <a:prstGeom prst="roundRect">
            <a:avLst>
              <a:gd name="adj" fmla="val 23529"/>
            </a:avLst>
          </a:prstGeom>
          <a:solidFill>
            <a:srgbClr val="EAF1FF"/>
          </a:solidFill>
          <a:ln w="12700">
            <a:solidFill>
              <a:srgbClr val="EAF1FF"/>
            </a:solidFill>
            <a:prstDash val="solid"/>
          </a:ln>
        </p:spPr>
      </p:sp>
      <p:sp>
        <p:nvSpPr>
          <p:cNvPr id="9" name="Text 7"/>
          <p:cNvSpPr/>
          <p:nvPr/>
        </p:nvSpPr>
        <p:spPr>
          <a:xfrm>
            <a:off x="548640" y="1956816"/>
            <a:ext cx="713232" cy="164592"/>
          </a:xfrm>
          <a:prstGeom prst="rect">
            <a:avLst/>
          </a:prstGeom>
          <a:noFill/>
          <a:ln/>
        </p:spPr>
        <p:txBody>
          <a:bodyPr wrap="square" lIns="508" tIns="508" rIns="508" bIns="508" rtlCol="0" anchor="t">
            <a:normAutofit/>
          </a:bodyPr>
          <a:lstStyle/>
          <a:p>
            <a:pPr algn="ctr" indent="0" marL="0">
              <a:buNone/>
            </a:pPr>
            <a:r>
              <a:rPr lang="en-US" sz="1100" b="1" dirty="0">
                <a:solidFill>
                  <a:srgbClr val="2563EB"/>
                </a:solidFill>
                <a:latin typeface="Yu Gothic" pitchFamily="34" charset="0"/>
                <a:ea typeface="Yu Gothic" pitchFamily="34" charset="-122"/>
                <a:cs typeface="Yu Gothic" pitchFamily="34" charset="-120"/>
              </a:rPr>
              <a:t>プランA</a:t>
            </a:r>
            <a:endParaRPr lang="en-US" sz="1100" dirty="0"/>
          </a:p>
        </p:txBody>
      </p:sp>
      <p:sp>
        <p:nvSpPr>
          <p:cNvPr id="10" name="Text 8"/>
          <p:cNvSpPr/>
          <p:nvPr/>
        </p:nvSpPr>
        <p:spPr>
          <a:xfrm>
            <a:off x="548640" y="2468880"/>
            <a:ext cx="822960" cy="164592"/>
          </a:xfrm>
          <a:prstGeom prst="rect">
            <a:avLst/>
          </a:prstGeom>
          <a:noFill/>
          <a:ln/>
        </p:spPr>
        <p:txBody>
          <a:bodyPr wrap="square" lIns="508" tIns="508" rIns="508" bIns="508" rtlCol="0" anchor="t">
            <a:normAutofit/>
          </a:bodyPr>
          <a:lstStyle/>
          <a:p>
            <a:pPr algn="l" indent="0" marL="0">
              <a:buNone/>
            </a:pPr>
            <a:r>
              <a:rPr lang="en-US" sz="950" dirty="0">
                <a:solidFill>
                  <a:srgbClr val="5B6472"/>
                </a:solidFill>
                <a:latin typeface="Yu Gothic" pitchFamily="34" charset="0"/>
                <a:ea typeface="Yu Gothic" pitchFamily="34" charset="-122"/>
                <a:cs typeface="Yu Gothic" pitchFamily="34" charset="-120"/>
              </a:rPr>
              <a:t>初期費用</a:t>
            </a:r>
            <a:endParaRPr lang="en-US" sz="950" dirty="0"/>
          </a:p>
        </p:txBody>
      </p:sp>
      <p:sp>
        <p:nvSpPr>
          <p:cNvPr id="11" name="Text 9"/>
          <p:cNvSpPr/>
          <p:nvPr/>
        </p:nvSpPr>
        <p:spPr>
          <a:xfrm>
            <a:off x="548640" y="2688336"/>
            <a:ext cx="1234440" cy="384048"/>
          </a:xfrm>
          <a:prstGeom prst="rect">
            <a:avLst/>
          </a:prstGeom>
          <a:noFill/>
          <a:ln/>
        </p:spPr>
        <p:txBody>
          <a:bodyPr wrap="square" lIns="508" tIns="508" rIns="508" bIns="508" rtlCol="0" anchor="t">
            <a:normAutofit/>
          </a:bodyPr>
          <a:lstStyle/>
          <a:p>
            <a:pPr algn="l" indent="0" marL="0">
              <a:buNone/>
            </a:pPr>
            <a:r>
              <a:rPr lang="en-US" sz="2400" b="1" dirty="0">
                <a:solidFill>
                  <a:srgbClr val="111827"/>
                </a:solidFill>
                <a:latin typeface="Yu Gothic" pitchFamily="34" charset="0"/>
                <a:ea typeface="Yu Gothic" pitchFamily="34" charset="-122"/>
                <a:cs typeface="Yu Gothic" pitchFamily="34" charset="-120"/>
              </a:rPr>
              <a:t>10万円</a:t>
            </a:r>
            <a:endParaRPr lang="en-US" sz="2400" dirty="0"/>
          </a:p>
        </p:txBody>
      </p:sp>
      <p:sp>
        <p:nvSpPr>
          <p:cNvPr id="12" name="Text 10"/>
          <p:cNvSpPr/>
          <p:nvPr/>
        </p:nvSpPr>
        <p:spPr>
          <a:xfrm>
            <a:off x="2103120" y="2468880"/>
            <a:ext cx="822960" cy="164592"/>
          </a:xfrm>
          <a:prstGeom prst="rect">
            <a:avLst/>
          </a:prstGeom>
          <a:noFill/>
          <a:ln/>
        </p:spPr>
        <p:txBody>
          <a:bodyPr wrap="square" lIns="508" tIns="508" rIns="508" bIns="508" rtlCol="0" anchor="t">
            <a:normAutofit/>
          </a:bodyPr>
          <a:lstStyle/>
          <a:p>
            <a:pPr algn="l" indent="0" marL="0">
              <a:buNone/>
            </a:pPr>
            <a:r>
              <a:rPr lang="en-US" sz="950" dirty="0">
                <a:solidFill>
                  <a:srgbClr val="5B6472"/>
                </a:solidFill>
                <a:latin typeface="Yu Gothic" pitchFamily="34" charset="0"/>
                <a:ea typeface="Yu Gothic" pitchFamily="34" charset="-122"/>
                <a:cs typeface="Yu Gothic" pitchFamily="34" charset="-120"/>
              </a:rPr>
              <a:t>成果報酬</a:t>
            </a:r>
            <a:endParaRPr lang="en-US" sz="950" dirty="0"/>
          </a:p>
        </p:txBody>
      </p:sp>
      <p:sp>
        <p:nvSpPr>
          <p:cNvPr id="13" name="Text 11"/>
          <p:cNvSpPr/>
          <p:nvPr/>
        </p:nvSpPr>
        <p:spPr>
          <a:xfrm>
            <a:off x="2103120" y="2688336"/>
            <a:ext cx="960120" cy="384048"/>
          </a:xfrm>
          <a:prstGeom prst="rect">
            <a:avLst/>
          </a:prstGeom>
          <a:noFill/>
          <a:ln/>
        </p:spPr>
        <p:txBody>
          <a:bodyPr wrap="square" lIns="508" tIns="508" rIns="508" bIns="508" rtlCol="0" anchor="t">
            <a:normAutofit/>
          </a:bodyPr>
          <a:lstStyle/>
          <a:p>
            <a:pPr algn="l" indent="0" marL="0">
              <a:buNone/>
            </a:pPr>
            <a:r>
              <a:rPr lang="en-US" sz="2400" b="1" dirty="0">
                <a:solidFill>
                  <a:srgbClr val="2563EB"/>
                </a:solidFill>
                <a:latin typeface="Yu Gothic" pitchFamily="34" charset="0"/>
                <a:ea typeface="Yu Gothic" pitchFamily="34" charset="-122"/>
                <a:cs typeface="Yu Gothic" pitchFamily="34" charset="-120"/>
              </a:rPr>
              <a:t>10%</a:t>
            </a:r>
            <a:endParaRPr lang="en-US" sz="2400" dirty="0"/>
          </a:p>
        </p:txBody>
      </p:sp>
      <p:sp>
        <p:nvSpPr>
          <p:cNvPr id="14" name="Shape 12"/>
          <p:cNvSpPr/>
          <p:nvPr/>
        </p:nvSpPr>
        <p:spPr>
          <a:xfrm>
            <a:off x="3721608" y="1755648"/>
            <a:ext cx="3172968" cy="1719072"/>
          </a:xfrm>
          <a:prstGeom prst="roundRect">
            <a:avLst>
              <a:gd name="adj" fmla="val 7979"/>
            </a:avLst>
          </a:prstGeom>
          <a:solidFill>
            <a:srgbClr val="FFFFFF"/>
          </a:solidFill>
          <a:ln w="12700">
            <a:solidFill>
              <a:srgbClr val="D8DEE8"/>
            </a:solidFill>
            <a:prstDash val="solid"/>
          </a:ln>
        </p:spPr>
      </p:sp>
      <p:sp>
        <p:nvSpPr>
          <p:cNvPr id="15" name="Shape 13"/>
          <p:cNvSpPr/>
          <p:nvPr/>
        </p:nvSpPr>
        <p:spPr>
          <a:xfrm>
            <a:off x="3867912" y="1901952"/>
            <a:ext cx="822960" cy="310896"/>
          </a:xfrm>
          <a:prstGeom prst="roundRect">
            <a:avLst>
              <a:gd name="adj" fmla="val 23529"/>
            </a:avLst>
          </a:prstGeom>
          <a:solidFill>
            <a:srgbClr val="EAF7F4"/>
          </a:solidFill>
          <a:ln w="12700">
            <a:solidFill>
              <a:srgbClr val="EAF7F4"/>
            </a:solidFill>
            <a:prstDash val="solid"/>
          </a:ln>
        </p:spPr>
      </p:sp>
      <p:sp>
        <p:nvSpPr>
          <p:cNvPr id="16" name="Text 14"/>
          <p:cNvSpPr/>
          <p:nvPr/>
        </p:nvSpPr>
        <p:spPr>
          <a:xfrm>
            <a:off x="3922776" y="1956816"/>
            <a:ext cx="713232" cy="164592"/>
          </a:xfrm>
          <a:prstGeom prst="rect">
            <a:avLst/>
          </a:prstGeom>
          <a:noFill/>
          <a:ln/>
        </p:spPr>
        <p:txBody>
          <a:bodyPr wrap="square" lIns="508" tIns="508" rIns="508" bIns="508" rtlCol="0" anchor="t">
            <a:normAutofit/>
          </a:bodyPr>
          <a:lstStyle/>
          <a:p>
            <a:pPr algn="ctr" indent="0" marL="0">
              <a:buNone/>
            </a:pPr>
            <a:r>
              <a:rPr lang="en-US" sz="1100" b="1" dirty="0">
                <a:solidFill>
                  <a:srgbClr val="0F766E"/>
                </a:solidFill>
                <a:latin typeface="Yu Gothic" pitchFamily="34" charset="0"/>
                <a:ea typeface="Yu Gothic" pitchFamily="34" charset="-122"/>
                <a:cs typeface="Yu Gothic" pitchFamily="34" charset="-120"/>
              </a:rPr>
              <a:t>プランB</a:t>
            </a:r>
            <a:endParaRPr lang="en-US" sz="1100" dirty="0"/>
          </a:p>
        </p:txBody>
      </p:sp>
      <p:sp>
        <p:nvSpPr>
          <p:cNvPr id="17" name="Text 15"/>
          <p:cNvSpPr/>
          <p:nvPr/>
        </p:nvSpPr>
        <p:spPr>
          <a:xfrm>
            <a:off x="3922776" y="2468880"/>
            <a:ext cx="822960" cy="164592"/>
          </a:xfrm>
          <a:prstGeom prst="rect">
            <a:avLst/>
          </a:prstGeom>
          <a:noFill/>
          <a:ln/>
        </p:spPr>
        <p:txBody>
          <a:bodyPr wrap="square" lIns="508" tIns="508" rIns="508" bIns="508" rtlCol="0" anchor="t">
            <a:normAutofit/>
          </a:bodyPr>
          <a:lstStyle/>
          <a:p>
            <a:pPr algn="l" indent="0" marL="0">
              <a:buNone/>
            </a:pPr>
            <a:r>
              <a:rPr lang="en-US" sz="950" dirty="0">
                <a:solidFill>
                  <a:srgbClr val="5B6472"/>
                </a:solidFill>
                <a:latin typeface="Yu Gothic" pitchFamily="34" charset="0"/>
                <a:ea typeface="Yu Gothic" pitchFamily="34" charset="-122"/>
                <a:cs typeface="Yu Gothic" pitchFamily="34" charset="-120"/>
              </a:rPr>
              <a:t>初期費用</a:t>
            </a:r>
            <a:endParaRPr lang="en-US" sz="950" dirty="0"/>
          </a:p>
        </p:txBody>
      </p:sp>
      <p:sp>
        <p:nvSpPr>
          <p:cNvPr id="18" name="Text 16"/>
          <p:cNvSpPr/>
          <p:nvPr/>
        </p:nvSpPr>
        <p:spPr>
          <a:xfrm>
            <a:off x="3922776" y="2688336"/>
            <a:ext cx="1234440" cy="384048"/>
          </a:xfrm>
          <a:prstGeom prst="rect">
            <a:avLst/>
          </a:prstGeom>
          <a:noFill/>
          <a:ln/>
        </p:spPr>
        <p:txBody>
          <a:bodyPr wrap="square" lIns="508" tIns="508" rIns="508" bIns="508" rtlCol="0" anchor="t">
            <a:normAutofit/>
          </a:bodyPr>
          <a:lstStyle/>
          <a:p>
            <a:pPr algn="l" indent="0" marL="0">
              <a:buNone/>
            </a:pPr>
            <a:r>
              <a:rPr lang="en-US" sz="2400" b="1" dirty="0">
                <a:solidFill>
                  <a:srgbClr val="111827"/>
                </a:solidFill>
                <a:latin typeface="Yu Gothic" pitchFamily="34" charset="0"/>
                <a:ea typeface="Yu Gothic" pitchFamily="34" charset="-122"/>
                <a:cs typeface="Yu Gothic" pitchFamily="34" charset="-120"/>
              </a:rPr>
              <a:t>50万円</a:t>
            </a:r>
            <a:endParaRPr lang="en-US" sz="2400" dirty="0"/>
          </a:p>
        </p:txBody>
      </p:sp>
      <p:sp>
        <p:nvSpPr>
          <p:cNvPr id="19" name="Text 17"/>
          <p:cNvSpPr/>
          <p:nvPr/>
        </p:nvSpPr>
        <p:spPr>
          <a:xfrm>
            <a:off x="5477256" y="2468880"/>
            <a:ext cx="822960" cy="164592"/>
          </a:xfrm>
          <a:prstGeom prst="rect">
            <a:avLst/>
          </a:prstGeom>
          <a:noFill/>
          <a:ln/>
        </p:spPr>
        <p:txBody>
          <a:bodyPr wrap="square" lIns="508" tIns="508" rIns="508" bIns="508" rtlCol="0" anchor="t">
            <a:normAutofit/>
          </a:bodyPr>
          <a:lstStyle/>
          <a:p>
            <a:pPr algn="l" indent="0" marL="0">
              <a:buNone/>
            </a:pPr>
            <a:r>
              <a:rPr lang="en-US" sz="950" dirty="0">
                <a:solidFill>
                  <a:srgbClr val="5B6472"/>
                </a:solidFill>
                <a:latin typeface="Yu Gothic" pitchFamily="34" charset="0"/>
                <a:ea typeface="Yu Gothic" pitchFamily="34" charset="-122"/>
                <a:cs typeface="Yu Gothic" pitchFamily="34" charset="-120"/>
              </a:rPr>
              <a:t>成果報酬</a:t>
            </a:r>
            <a:endParaRPr lang="en-US" sz="950" dirty="0"/>
          </a:p>
        </p:txBody>
      </p:sp>
      <p:sp>
        <p:nvSpPr>
          <p:cNvPr id="20" name="Text 18"/>
          <p:cNvSpPr/>
          <p:nvPr/>
        </p:nvSpPr>
        <p:spPr>
          <a:xfrm>
            <a:off x="5477256" y="2688336"/>
            <a:ext cx="960120" cy="384048"/>
          </a:xfrm>
          <a:prstGeom prst="rect">
            <a:avLst/>
          </a:prstGeom>
          <a:noFill/>
          <a:ln/>
        </p:spPr>
        <p:txBody>
          <a:bodyPr wrap="square" lIns="508" tIns="508" rIns="508" bIns="508" rtlCol="0" anchor="t">
            <a:normAutofit/>
          </a:bodyPr>
          <a:lstStyle/>
          <a:p>
            <a:pPr algn="l" indent="0" marL="0">
              <a:buNone/>
            </a:pPr>
            <a:r>
              <a:rPr lang="en-US" sz="2400" b="1" dirty="0">
                <a:solidFill>
                  <a:srgbClr val="0F766E"/>
                </a:solidFill>
                <a:latin typeface="Yu Gothic" pitchFamily="34" charset="0"/>
                <a:ea typeface="Yu Gothic" pitchFamily="34" charset="-122"/>
                <a:cs typeface="Yu Gothic" pitchFamily="34" charset="-120"/>
              </a:rPr>
              <a:t>5%</a:t>
            </a:r>
            <a:endParaRPr lang="en-US" sz="2400" dirty="0"/>
          </a:p>
        </p:txBody>
      </p:sp>
      <p:sp>
        <p:nvSpPr>
          <p:cNvPr id="21" name="Shape 19"/>
          <p:cNvSpPr/>
          <p:nvPr/>
        </p:nvSpPr>
        <p:spPr>
          <a:xfrm>
            <a:off x="7095744" y="1755648"/>
            <a:ext cx="3172968" cy="1719072"/>
          </a:xfrm>
          <a:prstGeom prst="roundRect">
            <a:avLst>
              <a:gd name="adj" fmla="val 7979"/>
            </a:avLst>
          </a:prstGeom>
          <a:solidFill>
            <a:srgbClr val="FFFFFF"/>
          </a:solidFill>
          <a:ln w="12700">
            <a:solidFill>
              <a:srgbClr val="D8DEE8"/>
            </a:solidFill>
            <a:prstDash val="solid"/>
          </a:ln>
        </p:spPr>
      </p:sp>
      <p:sp>
        <p:nvSpPr>
          <p:cNvPr id="22" name="Shape 20"/>
          <p:cNvSpPr/>
          <p:nvPr/>
        </p:nvSpPr>
        <p:spPr>
          <a:xfrm>
            <a:off x="7242048" y="1901952"/>
            <a:ext cx="822960" cy="310896"/>
          </a:xfrm>
          <a:prstGeom prst="roundRect">
            <a:avLst>
              <a:gd name="adj" fmla="val 23529"/>
            </a:avLst>
          </a:prstGeom>
          <a:solidFill>
            <a:srgbClr val="FFF3E8"/>
          </a:solidFill>
          <a:ln w="12700">
            <a:solidFill>
              <a:srgbClr val="FFF3E8"/>
            </a:solidFill>
            <a:prstDash val="solid"/>
          </a:ln>
        </p:spPr>
      </p:sp>
      <p:sp>
        <p:nvSpPr>
          <p:cNvPr id="23" name="Text 21"/>
          <p:cNvSpPr/>
          <p:nvPr/>
        </p:nvSpPr>
        <p:spPr>
          <a:xfrm>
            <a:off x="7296912" y="1956816"/>
            <a:ext cx="713232" cy="164592"/>
          </a:xfrm>
          <a:prstGeom prst="rect">
            <a:avLst/>
          </a:prstGeom>
          <a:noFill/>
          <a:ln/>
        </p:spPr>
        <p:txBody>
          <a:bodyPr wrap="square" lIns="508" tIns="508" rIns="508" bIns="508" rtlCol="0" anchor="t">
            <a:normAutofit/>
          </a:bodyPr>
          <a:lstStyle/>
          <a:p>
            <a:pPr algn="ctr" indent="0" marL="0">
              <a:buNone/>
            </a:pPr>
            <a:r>
              <a:rPr lang="en-US" sz="1100" b="1" dirty="0">
                <a:solidFill>
                  <a:srgbClr val="C2410C"/>
                </a:solidFill>
                <a:latin typeface="Yu Gothic" pitchFamily="34" charset="0"/>
                <a:ea typeface="Yu Gothic" pitchFamily="34" charset="-122"/>
                <a:cs typeface="Yu Gothic" pitchFamily="34" charset="-120"/>
              </a:rPr>
              <a:t>プランC</a:t>
            </a:r>
            <a:endParaRPr lang="en-US" sz="1100" dirty="0"/>
          </a:p>
        </p:txBody>
      </p:sp>
      <p:sp>
        <p:nvSpPr>
          <p:cNvPr id="24" name="Text 22"/>
          <p:cNvSpPr/>
          <p:nvPr/>
        </p:nvSpPr>
        <p:spPr>
          <a:xfrm>
            <a:off x="7296912" y="2468880"/>
            <a:ext cx="822960" cy="164592"/>
          </a:xfrm>
          <a:prstGeom prst="rect">
            <a:avLst/>
          </a:prstGeom>
          <a:noFill/>
          <a:ln/>
        </p:spPr>
        <p:txBody>
          <a:bodyPr wrap="square" lIns="508" tIns="508" rIns="508" bIns="508" rtlCol="0" anchor="t">
            <a:normAutofit/>
          </a:bodyPr>
          <a:lstStyle/>
          <a:p>
            <a:pPr algn="l" indent="0" marL="0">
              <a:buNone/>
            </a:pPr>
            <a:r>
              <a:rPr lang="en-US" sz="950" dirty="0">
                <a:solidFill>
                  <a:srgbClr val="5B6472"/>
                </a:solidFill>
                <a:latin typeface="Yu Gothic" pitchFamily="34" charset="0"/>
                <a:ea typeface="Yu Gothic" pitchFamily="34" charset="-122"/>
                <a:cs typeface="Yu Gothic" pitchFamily="34" charset="-120"/>
              </a:rPr>
              <a:t>初期費用</a:t>
            </a:r>
            <a:endParaRPr lang="en-US" sz="950" dirty="0"/>
          </a:p>
        </p:txBody>
      </p:sp>
      <p:sp>
        <p:nvSpPr>
          <p:cNvPr id="25" name="Text 23"/>
          <p:cNvSpPr/>
          <p:nvPr/>
        </p:nvSpPr>
        <p:spPr>
          <a:xfrm>
            <a:off x="7296912" y="2688336"/>
            <a:ext cx="1234440" cy="384048"/>
          </a:xfrm>
          <a:prstGeom prst="rect">
            <a:avLst/>
          </a:prstGeom>
          <a:noFill/>
          <a:ln/>
        </p:spPr>
        <p:txBody>
          <a:bodyPr wrap="square" lIns="508" tIns="508" rIns="508" bIns="508" rtlCol="0" anchor="t">
            <a:normAutofit/>
          </a:bodyPr>
          <a:lstStyle/>
          <a:p>
            <a:pPr algn="l" indent="0" marL="0">
              <a:buNone/>
            </a:pPr>
            <a:r>
              <a:rPr lang="en-US" sz="2400" b="1" dirty="0">
                <a:solidFill>
                  <a:srgbClr val="111827"/>
                </a:solidFill>
                <a:latin typeface="Yu Gothic" pitchFamily="34" charset="0"/>
                <a:ea typeface="Yu Gothic" pitchFamily="34" charset="-122"/>
                <a:cs typeface="Yu Gothic" pitchFamily="34" charset="-120"/>
              </a:rPr>
              <a:t>100万円</a:t>
            </a:r>
            <a:endParaRPr lang="en-US" sz="2400" dirty="0"/>
          </a:p>
        </p:txBody>
      </p:sp>
      <p:sp>
        <p:nvSpPr>
          <p:cNvPr id="26" name="Text 24"/>
          <p:cNvSpPr/>
          <p:nvPr/>
        </p:nvSpPr>
        <p:spPr>
          <a:xfrm>
            <a:off x="8851392" y="2468880"/>
            <a:ext cx="822960" cy="164592"/>
          </a:xfrm>
          <a:prstGeom prst="rect">
            <a:avLst/>
          </a:prstGeom>
          <a:noFill/>
          <a:ln/>
        </p:spPr>
        <p:txBody>
          <a:bodyPr wrap="square" lIns="508" tIns="508" rIns="508" bIns="508" rtlCol="0" anchor="t">
            <a:normAutofit/>
          </a:bodyPr>
          <a:lstStyle/>
          <a:p>
            <a:pPr algn="l" indent="0" marL="0">
              <a:buNone/>
            </a:pPr>
            <a:r>
              <a:rPr lang="en-US" sz="950" dirty="0">
                <a:solidFill>
                  <a:srgbClr val="5B6472"/>
                </a:solidFill>
                <a:latin typeface="Yu Gothic" pitchFamily="34" charset="0"/>
                <a:ea typeface="Yu Gothic" pitchFamily="34" charset="-122"/>
                <a:cs typeface="Yu Gothic" pitchFamily="34" charset="-120"/>
              </a:rPr>
              <a:t>成果報酬</a:t>
            </a:r>
            <a:endParaRPr lang="en-US" sz="950" dirty="0"/>
          </a:p>
        </p:txBody>
      </p:sp>
      <p:sp>
        <p:nvSpPr>
          <p:cNvPr id="27" name="Text 25"/>
          <p:cNvSpPr/>
          <p:nvPr/>
        </p:nvSpPr>
        <p:spPr>
          <a:xfrm>
            <a:off x="8851392" y="2688336"/>
            <a:ext cx="960120" cy="384048"/>
          </a:xfrm>
          <a:prstGeom prst="rect">
            <a:avLst/>
          </a:prstGeom>
          <a:noFill/>
          <a:ln/>
        </p:spPr>
        <p:txBody>
          <a:bodyPr wrap="square" lIns="508" tIns="508" rIns="508" bIns="508" rtlCol="0" anchor="t">
            <a:normAutofit/>
          </a:bodyPr>
          <a:lstStyle/>
          <a:p>
            <a:pPr algn="l" indent="0" marL="0">
              <a:buNone/>
            </a:pPr>
            <a:r>
              <a:rPr lang="en-US" sz="2400" b="1" dirty="0">
                <a:solidFill>
                  <a:srgbClr val="C2410C"/>
                </a:solidFill>
                <a:latin typeface="Yu Gothic" pitchFamily="34" charset="0"/>
                <a:ea typeface="Yu Gothic" pitchFamily="34" charset="-122"/>
                <a:cs typeface="Yu Gothic" pitchFamily="34" charset="-120"/>
              </a:rPr>
              <a:t>0%</a:t>
            </a:r>
            <a:endParaRPr lang="en-US" sz="2400" dirty="0"/>
          </a:p>
        </p:txBody>
      </p:sp>
      <p:sp>
        <p:nvSpPr>
          <p:cNvPr id="28" name="Shape 26"/>
          <p:cNvSpPr/>
          <p:nvPr/>
        </p:nvSpPr>
        <p:spPr>
          <a:xfrm>
            <a:off x="347472" y="3749040"/>
            <a:ext cx="4873752" cy="2487168"/>
          </a:xfrm>
          <a:prstGeom prst="roundRect">
            <a:avLst>
              <a:gd name="adj" fmla="val 4412"/>
            </a:avLst>
          </a:prstGeom>
          <a:solidFill>
            <a:srgbClr val="FFFFFF"/>
          </a:solidFill>
          <a:ln w="12700">
            <a:solidFill>
              <a:srgbClr val="D8DEE8"/>
            </a:solidFill>
            <a:prstDash val="solid"/>
          </a:ln>
        </p:spPr>
      </p:sp>
      <p:sp>
        <p:nvSpPr>
          <p:cNvPr id="29" name="Text 27"/>
          <p:cNvSpPr/>
          <p:nvPr/>
        </p:nvSpPr>
        <p:spPr>
          <a:xfrm>
            <a:off x="548640" y="3931920"/>
            <a:ext cx="2286000" cy="256032"/>
          </a:xfrm>
          <a:prstGeom prst="rect">
            <a:avLst/>
          </a:prstGeom>
          <a:noFill/>
          <a:ln/>
        </p:spPr>
        <p:txBody>
          <a:bodyPr wrap="square" lIns="508" tIns="508" rIns="508" bIns="508" rtlCol="0" anchor="t">
            <a:normAutofit/>
          </a:bodyPr>
          <a:lstStyle/>
          <a:p>
            <a:pPr algn="l" indent="0" marL="0">
              <a:buNone/>
            </a:pPr>
            <a:r>
              <a:rPr lang="en-US" sz="1400" b="1" dirty="0">
                <a:solidFill>
                  <a:srgbClr val="16233A"/>
                </a:solidFill>
                <a:latin typeface="Yu Gothic" pitchFamily="34" charset="0"/>
                <a:ea typeface="Yu Gothic" pitchFamily="34" charset="-122"/>
                <a:cs typeface="Yu Gothic" pitchFamily="34" charset="-120"/>
              </a:rPr>
              <a:t>制作内容（全プラン共通）</a:t>
            </a:r>
            <a:endParaRPr lang="en-US" sz="1400" dirty="0"/>
          </a:p>
        </p:txBody>
      </p:sp>
      <p:sp>
        <p:nvSpPr>
          <p:cNvPr id="30" name="Text 28"/>
          <p:cNvSpPr/>
          <p:nvPr/>
        </p:nvSpPr>
        <p:spPr>
          <a:xfrm>
            <a:off x="548640" y="4279392"/>
            <a:ext cx="4343400" cy="219456"/>
          </a:xfrm>
          <a:prstGeom prst="rect">
            <a:avLst/>
          </a:prstGeom>
          <a:noFill/>
          <a:ln/>
        </p:spPr>
        <p:txBody>
          <a:bodyPr wrap="square" lIns="508" tIns="508" rIns="508" bIns="508" rtlCol="0" anchor="t">
            <a:normAutofit/>
          </a:bodyPr>
          <a:lstStyle/>
          <a:p>
            <a:pPr algn="l" indent="0" marL="0">
              <a:buNone/>
            </a:pPr>
            <a:r>
              <a:rPr lang="en-US" sz="950" dirty="0">
                <a:solidFill>
                  <a:srgbClr val="5B6472"/>
                </a:solidFill>
                <a:latin typeface="Yu Gothic" pitchFamily="34" charset="0"/>
                <a:ea typeface="Yu Gothic" pitchFamily="34" charset="-122"/>
                <a:cs typeface="Yu Gothic" pitchFamily="34" charset="-120"/>
              </a:rPr>
              <a:t>以下の内容を備えた、EC販売開始に必要なミニマム構成を制作します。</a:t>
            </a:r>
            <a:endParaRPr lang="en-US" sz="950" dirty="0"/>
          </a:p>
        </p:txBody>
      </p:sp>
      <p:sp>
        <p:nvSpPr>
          <p:cNvPr id="31" name="Text 29"/>
          <p:cNvSpPr/>
          <p:nvPr/>
        </p:nvSpPr>
        <p:spPr>
          <a:xfrm>
            <a:off x="640080" y="4645152"/>
            <a:ext cx="4315968" cy="1143000"/>
          </a:xfrm>
          <a:prstGeom prst="rect">
            <a:avLst/>
          </a:prstGeom>
          <a:noFill/>
          <a:ln/>
        </p:spPr>
        <p:txBody>
          <a:bodyPr wrap="square" lIns="508" tIns="508" rIns="508" bIns="508" rtlCol="0" anchor="t">
            <a:normAutofit/>
          </a:bodyPr>
          <a:lstStyle/>
          <a:p>
            <a:pPr algn="l" indent="0" marL="0">
              <a:lnSpc>
                <a:spcPct val="90000"/>
              </a:lnSpc>
              <a:buNone/>
            </a:pPr>
            <a:r>
              <a:rPr lang="en-US" sz="1020" dirty="0">
                <a:solidFill>
                  <a:srgbClr val="111827"/>
                </a:solidFill>
                <a:latin typeface="Yu Gothic" pitchFamily="34" charset="0"/>
                <a:ea typeface="Yu Gothic" pitchFamily="34" charset="-122"/>
                <a:cs typeface="Yu Gothic" pitchFamily="34" charset="-120"/>
              </a:rPr>
              <a:t>• 基本的なEC機能（商品掲載・購入導線・決済導線）</a:t>
            </a:r>
            <a:endParaRPr lang="en-US" sz="1020" dirty="0"/>
          </a:p>
          <a:p>
            <a:pPr algn="l" indent="0" marL="0">
              <a:lnSpc>
                <a:spcPct val="90000"/>
              </a:lnSpc>
              <a:buNone/>
            </a:pPr>
            <a:r>
              <a:rPr lang="en-US" sz="1020" dirty="0">
                <a:solidFill>
                  <a:srgbClr val="111827"/>
                </a:solidFill>
                <a:latin typeface="Yu Gothic" pitchFamily="34" charset="0"/>
                <a:ea typeface="Yu Gothic" pitchFamily="34" charset="-122"/>
                <a:cs typeface="Yu Gothic" pitchFamily="34" charset="-120"/>
              </a:rPr>
              <a:t>• ロジ連携に必要な基本設定・連携導線</a:t>
            </a:r>
            <a:endParaRPr lang="en-US" sz="1020" dirty="0"/>
          </a:p>
          <a:p>
            <a:pPr algn="l" indent="0" marL="0">
              <a:lnSpc>
                <a:spcPct val="90000"/>
              </a:lnSpc>
              <a:buNone/>
            </a:pPr>
            <a:r>
              <a:rPr lang="en-US" sz="1020" dirty="0">
                <a:solidFill>
                  <a:srgbClr val="111827"/>
                </a:solidFill>
                <a:latin typeface="Yu Gothic" pitchFamily="34" charset="0"/>
                <a:ea typeface="Yu Gothic" pitchFamily="34" charset="-122"/>
                <a:cs typeface="Yu Gothic" pitchFamily="34" charset="-120"/>
              </a:rPr>
              <a:t>• 商品やブランド訴求のための動画掲載エリア</a:t>
            </a:r>
            <a:endParaRPr lang="en-US" sz="1020" dirty="0"/>
          </a:p>
          <a:p>
            <a:pPr algn="l" indent="0" marL="0">
              <a:lnSpc>
                <a:spcPct val="90000"/>
              </a:lnSpc>
              <a:buNone/>
            </a:pPr>
            <a:r>
              <a:rPr lang="en-US" sz="1020" dirty="0">
                <a:solidFill>
                  <a:srgbClr val="111827"/>
                </a:solidFill>
                <a:latin typeface="Yu Gothic" pitchFamily="34" charset="0"/>
                <a:ea typeface="Yu Gothic" pitchFamily="34" charset="-122"/>
                <a:cs typeface="Yu Gothic" pitchFamily="34" charset="-120"/>
              </a:rPr>
              <a:t>• 運用開始後に改善しやすいテキスト/構成ベースの設計</a:t>
            </a:r>
            <a:endParaRPr lang="en-US" sz="1020" dirty="0"/>
          </a:p>
          <a:p>
            <a:pPr algn="l" indent="0" marL="0">
              <a:lnSpc>
                <a:spcPct val="90000"/>
              </a:lnSpc>
              <a:buNone/>
            </a:pPr>
            <a:r>
              <a:rPr lang="en-US" sz="1020" dirty="0">
                <a:solidFill>
                  <a:srgbClr val="111827"/>
                </a:solidFill>
                <a:latin typeface="Yu Gothic" pitchFamily="34" charset="0"/>
                <a:ea typeface="Yu Gothic" pitchFamily="34" charset="-122"/>
                <a:cs typeface="Yu Gothic" pitchFamily="34" charset="-120"/>
              </a:rPr>
              <a:t>• 必要最低限の導入・公開前確認</a:t>
            </a:r>
            <a:endParaRPr lang="en-US" sz="1020" dirty="0"/>
          </a:p>
        </p:txBody>
      </p:sp>
      <p:sp>
        <p:nvSpPr>
          <p:cNvPr id="32" name="Shape 30"/>
          <p:cNvSpPr/>
          <p:nvPr/>
        </p:nvSpPr>
        <p:spPr>
          <a:xfrm>
            <a:off x="5468112" y="3749040"/>
            <a:ext cx="4864608" cy="2487168"/>
          </a:xfrm>
          <a:prstGeom prst="roundRect">
            <a:avLst>
              <a:gd name="adj" fmla="val 4412"/>
            </a:avLst>
          </a:prstGeom>
          <a:solidFill>
            <a:srgbClr val="FFFFFF"/>
          </a:solidFill>
          <a:ln w="12700">
            <a:solidFill>
              <a:srgbClr val="D8DEE8"/>
            </a:solidFill>
            <a:prstDash val="solid"/>
          </a:ln>
        </p:spPr>
      </p:sp>
      <p:sp>
        <p:nvSpPr>
          <p:cNvPr id="33" name="Text 31"/>
          <p:cNvSpPr/>
          <p:nvPr/>
        </p:nvSpPr>
        <p:spPr>
          <a:xfrm>
            <a:off x="5669280" y="3931920"/>
            <a:ext cx="2377440" cy="256032"/>
          </a:xfrm>
          <a:prstGeom prst="rect">
            <a:avLst/>
          </a:prstGeom>
          <a:noFill/>
          <a:ln/>
        </p:spPr>
        <p:txBody>
          <a:bodyPr wrap="square" lIns="508" tIns="508" rIns="508" bIns="508" rtlCol="0" anchor="t">
            <a:normAutofit/>
          </a:bodyPr>
          <a:lstStyle/>
          <a:p>
            <a:pPr algn="l" indent="0" marL="0">
              <a:buNone/>
            </a:pPr>
            <a:r>
              <a:rPr lang="en-US" sz="1400" b="1" dirty="0">
                <a:solidFill>
                  <a:srgbClr val="16233A"/>
                </a:solidFill>
                <a:latin typeface="Yu Gothic" pitchFamily="34" charset="0"/>
                <a:ea typeface="Yu Gothic" pitchFamily="34" charset="-122"/>
                <a:cs typeface="Yu Gothic" pitchFamily="34" charset="-120"/>
              </a:rPr>
              <a:t>運用・追加対応の考え方</a:t>
            </a:r>
            <a:endParaRPr lang="en-US" sz="1400" dirty="0"/>
          </a:p>
        </p:txBody>
      </p:sp>
      <p:sp>
        <p:nvSpPr>
          <p:cNvPr id="34" name="Text 32"/>
          <p:cNvSpPr/>
          <p:nvPr/>
        </p:nvSpPr>
        <p:spPr>
          <a:xfrm>
            <a:off x="5669280" y="4370832"/>
            <a:ext cx="1005840" cy="182880"/>
          </a:xfrm>
          <a:prstGeom prst="rect">
            <a:avLst/>
          </a:prstGeom>
          <a:noFill/>
          <a:ln/>
        </p:spPr>
        <p:txBody>
          <a:bodyPr wrap="square" lIns="508" tIns="508" rIns="508" bIns="508" rtlCol="0" anchor="t">
            <a:normAutofit/>
          </a:bodyPr>
          <a:lstStyle/>
          <a:p>
            <a:pPr algn="l" indent="0" marL="0">
              <a:buNone/>
            </a:pPr>
            <a:r>
              <a:rPr lang="en-US" sz="1050" b="1" dirty="0">
                <a:solidFill>
                  <a:srgbClr val="111827"/>
                </a:solidFill>
                <a:latin typeface="Yu Gothic" pitchFamily="34" charset="0"/>
                <a:ea typeface="Yu Gothic" pitchFamily="34" charset="-122"/>
                <a:cs typeface="Yu Gothic" pitchFamily="34" charset="-120"/>
              </a:rPr>
              <a:t>月額運用費</a:t>
            </a:r>
            <a:endParaRPr lang="en-US" sz="1050" dirty="0"/>
          </a:p>
        </p:txBody>
      </p:sp>
      <p:sp>
        <p:nvSpPr>
          <p:cNvPr id="35" name="Text 33"/>
          <p:cNvSpPr/>
          <p:nvPr/>
        </p:nvSpPr>
        <p:spPr>
          <a:xfrm>
            <a:off x="6711696" y="4325112"/>
            <a:ext cx="1234440" cy="274320"/>
          </a:xfrm>
          <a:prstGeom prst="rect">
            <a:avLst/>
          </a:prstGeom>
          <a:noFill/>
          <a:ln/>
        </p:spPr>
        <p:txBody>
          <a:bodyPr wrap="square" lIns="508" tIns="508" rIns="508" bIns="508" rtlCol="0" anchor="t">
            <a:normAutofit/>
          </a:bodyPr>
          <a:lstStyle/>
          <a:p>
            <a:pPr algn="l" indent="0" marL="0">
              <a:buNone/>
            </a:pPr>
            <a:r>
              <a:rPr lang="en-US" sz="1600" b="1" dirty="0">
                <a:solidFill>
                  <a:srgbClr val="B91C1C"/>
                </a:solidFill>
                <a:latin typeface="Yu Gothic" pitchFamily="34" charset="0"/>
                <a:ea typeface="Yu Gothic" pitchFamily="34" charset="-122"/>
                <a:cs typeface="Yu Gothic" pitchFamily="34" charset="-120"/>
              </a:rPr>
              <a:t>一律 3万円</a:t>
            </a:r>
            <a:endParaRPr lang="en-US" sz="1600" dirty="0"/>
          </a:p>
        </p:txBody>
      </p:sp>
      <p:sp>
        <p:nvSpPr>
          <p:cNvPr id="36" name="Text 34"/>
          <p:cNvSpPr/>
          <p:nvPr/>
        </p:nvSpPr>
        <p:spPr>
          <a:xfrm>
            <a:off x="5669280" y="4690872"/>
            <a:ext cx="4343400" cy="384048"/>
          </a:xfrm>
          <a:prstGeom prst="rect">
            <a:avLst/>
          </a:prstGeom>
          <a:noFill/>
          <a:ln/>
        </p:spPr>
        <p:txBody>
          <a:bodyPr wrap="square" lIns="508" tIns="508" rIns="508" bIns="508" rtlCol="0" anchor="t">
            <a:normAutofit/>
          </a:bodyPr>
          <a:lstStyle/>
          <a:p>
            <a:pPr algn="l" indent="0" marL="0">
              <a:buNone/>
            </a:pPr>
            <a:r>
              <a:rPr lang="en-US" sz="920" dirty="0">
                <a:solidFill>
                  <a:srgbClr val="111827"/>
                </a:solidFill>
                <a:latin typeface="Yu Gothic" pitchFamily="34" charset="0"/>
                <a:ea typeface="Yu Gothic" pitchFamily="34" charset="-122"/>
                <a:cs typeface="Yu Gothic" pitchFamily="34" charset="-120"/>
              </a:rPr>
              <a:t>Shopify利用料、メンテナンス費用、各種プラグインの月額費用、運用資産の軽微な改修費などを含みます。</a:t>
            </a:r>
            <a:endParaRPr lang="en-US" sz="920" dirty="0"/>
          </a:p>
        </p:txBody>
      </p:sp>
      <p:sp>
        <p:nvSpPr>
          <p:cNvPr id="37" name="Text 35"/>
          <p:cNvSpPr/>
          <p:nvPr/>
        </p:nvSpPr>
        <p:spPr>
          <a:xfrm>
            <a:off x="5669280" y="5285232"/>
            <a:ext cx="1828800" cy="182880"/>
          </a:xfrm>
          <a:prstGeom prst="rect">
            <a:avLst/>
          </a:prstGeom>
          <a:noFill/>
          <a:ln/>
        </p:spPr>
        <p:txBody>
          <a:bodyPr wrap="square" lIns="508" tIns="508" rIns="508" bIns="508" rtlCol="0" anchor="t">
            <a:normAutofit/>
          </a:bodyPr>
          <a:lstStyle/>
          <a:p>
            <a:pPr algn="l" indent="0" marL="0">
              <a:buNone/>
            </a:pPr>
            <a:r>
              <a:rPr lang="en-US" sz="1050" b="1" dirty="0">
                <a:solidFill>
                  <a:srgbClr val="111827"/>
                </a:solidFill>
                <a:latin typeface="Yu Gothic" pitchFamily="34" charset="0"/>
                <a:ea typeface="Yu Gothic" pitchFamily="34" charset="-122"/>
                <a:cs typeface="Yu Gothic" pitchFamily="34" charset="-120"/>
              </a:rPr>
              <a:t>追加オプション / 追加機能</a:t>
            </a:r>
            <a:endParaRPr lang="en-US" sz="1050" dirty="0"/>
          </a:p>
        </p:txBody>
      </p:sp>
      <p:sp>
        <p:nvSpPr>
          <p:cNvPr id="38" name="Text 36"/>
          <p:cNvSpPr/>
          <p:nvPr/>
        </p:nvSpPr>
        <p:spPr>
          <a:xfrm>
            <a:off x="5669280" y="5559552"/>
            <a:ext cx="4315968" cy="329184"/>
          </a:xfrm>
          <a:prstGeom prst="rect">
            <a:avLst/>
          </a:prstGeom>
          <a:noFill/>
          <a:ln/>
        </p:spPr>
        <p:txBody>
          <a:bodyPr wrap="square" lIns="508" tIns="508" rIns="508" bIns="508" rtlCol="0" anchor="t">
            <a:normAutofit/>
          </a:bodyPr>
          <a:lstStyle/>
          <a:p>
            <a:pPr algn="l" indent="0" marL="0">
              <a:buNone/>
            </a:pPr>
            <a:r>
              <a:rPr lang="en-US" sz="950" dirty="0">
                <a:solidFill>
                  <a:srgbClr val="111827"/>
                </a:solidFill>
                <a:latin typeface="Yu Gothic" pitchFamily="34" charset="0"/>
                <a:ea typeface="Yu Gothic" pitchFamily="34" charset="-122"/>
                <a:cs typeface="Yu Gothic" pitchFamily="34" charset="-120"/>
              </a:rPr>
              <a:t>上記ミニマム構成からさらに機能を追加する場合は、その時点で内容を確認し、別途お見積もりします。</a:t>
            </a:r>
            <a:endParaRPr lang="en-US" sz="950" dirty="0"/>
          </a:p>
        </p:txBody>
      </p:sp>
      <p:sp>
        <p:nvSpPr>
          <p:cNvPr id="39" name="Shape 37"/>
          <p:cNvSpPr/>
          <p:nvPr/>
        </p:nvSpPr>
        <p:spPr>
          <a:xfrm>
            <a:off x="347472" y="6437376"/>
            <a:ext cx="9985248" cy="658368"/>
          </a:xfrm>
          <a:prstGeom prst="roundRect">
            <a:avLst>
              <a:gd name="adj" fmla="val 13889"/>
            </a:avLst>
          </a:prstGeom>
          <a:solidFill>
            <a:srgbClr val="FFFFFF"/>
          </a:solidFill>
          <a:ln w="12700">
            <a:solidFill>
              <a:srgbClr val="D8DEE8"/>
            </a:solidFill>
            <a:prstDash val="solid"/>
          </a:ln>
        </p:spPr>
      </p:sp>
      <p:sp>
        <p:nvSpPr>
          <p:cNvPr id="40" name="Text 38"/>
          <p:cNvSpPr/>
          <p:nvPr/>
        </p:nvSpPr>
        <p:spPr>
          <a:xfrm>
            <a:off x="566928" y="6601968"/>
            <a:ext cx="9509760" cy="256032"/>
          </a:xfrm>
          <a:prstGeom prst="rect">
            <a:avLst/>
          </a:prstGeom>
          <a:noFill/>
          <a:ln/>
        </p:spPr>
        <p:txBody>
          <a:bodyPr wrap="square" lIns="508" tIns="508" rIns="508" bIns="508" rtlCol="0" anchor="t">
            <a:normAutofit/>
          </a:bodyPr>
          <a:lstStyle/>
          <a:p>
            <a:pPr algn="l" indent="0" marL="0">
              <a:buNone/>
            </a:pPr>
            <a:r>
              <a:rPr lang="en-US" sz="880" dirty="0">
                <a:solidFill>
                  <a:srgbClr val="5B6472"/>
                </a:solidFill>
                <a:latin typeface="Yu Gothic" pitchFamily="34" charset="0"/>
                <a:ea typeface="Yu Gothic" pitchFamily="34" charset="-122"/>
                <a:cs typeface="Yu Gothic" pitchFamily="34" charset="-120"/>
              </a:rPr>
              <a:t>共通条件：基本的に資産はこちら側が保有し、運用もこちらで行います。資産を利用し続ける限り、成果報酬が発生します。ソースコードは開示するため、お客様自身でのカスタマイズも可能ですが、自己カスタマイズによりバグが発生した場合は運用保証の対象外となります。</a:t>
            </a:r>
            <a:endParaRPr lang="en-US" sz="8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EC構築・運用プラン 見積書</dc:title>
  <dc:subject>EC構築プラン 見積書 構成案 修正版</dc:subject>
  <dc:creator>Shiro</dc:creator>
  <cp:lastModifiedBy>Shiro</cp:lastModifiedBy>
  <cp:revision>1</cp:revision>
  <dcterms:created xsi:type="dcterms:W3CDTF">2026-05-07T01:50:24Z</dcterms:created>
  <dcterms:modified xsi:type="dcterms:W3CDTF">2026-05-07T01:50:24Z</dcterms:modified>
</cp:coreProperties>
</file>