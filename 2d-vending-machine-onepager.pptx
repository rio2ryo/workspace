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【トークスクリプト / 補足】</a:t>
            </a:r>
          </a:p>
          <a:p/>
          <a:p>
            <a:r>
              <a:t>■ コンセプト</a:t>
            </a:r>
          </a:p>
          <a:p>
            <a:r>
              <a:t>2D自販機は、紙のポスターやパネルそのものを売り場に変える仕組みです。商品枠とNFC/QRを配置しておくだけで、来場者がスマホをかざして即購入できます。大型機器が要らないため設置の自由度が極めて高く、イベント会場・観光地・ライブ会場・コラボカフェなど、これまで物販の機会を作りづらかった場所にも一気に売り場を展開できます。</a:t>
            </a:r>
          </a:p>
          <a:p/>
          <a:p>
            <a:r>
              <a:t>■ 体験フロー</a:t>
            </a:r>
          </a:p>
          <a:p>
            <a:r>
              <a:t>(1) 来場者はポスター上で欲しい商品を選びます。 (2) スマホでNFCタッチ／QR読み取り。 (3) クレカ等で決済し、現地受取 or オンライン配送 を選択。 (4) 現地受取の場合は注文番号やQRを受取所で提示するだけでスムーズに引渡し完了。</a:t>
            </a:r>
          </a:p>
          <a:p/>
          <a:p>
            <a:r>
              <a:t>■ 受取の3パターン</a:t>
            </a:r>
          </a:p>
          <a:p>
            <a:r>
              <a:t>・現地受取：列に並ばずファストパス感覚。事前購入で在庫確保。</a:t>
            </a:r>
          </a:p>
          <a:p>
            <a:r>
              <a:t>・オンライン配送：荷物を持ち帰らずに済むので観光地・遠征の購買障壁を一気に下げる。</a:t>
            </a:r>
          </a:p>
          <a:p>
            <a:r>
              <a:t>・相談窓口：スマホ操作が難しい層向けに有人サポート。取りこぼしを防ぐ。</a:t>
            </a:r>
          </a:p>
          <a:p/>
          <a:p>
            <a:r>
              <a:t>■ 事業者メリット</a:t>
            </a:r>
          </a:p>
          <a:p>
            <a:r>
              <a:t>大型機器が要らないので設置・撤去が圧倒的に低コスト。商品差替えは枠とリンクの更新だけ。限定販売・ポップアップ・コラボなど“短期×高瞬発”の物販に強い。注文・受取・配送までを一元管理でき、現地スタッフの窓口混雑も緩和できます。</a:t>
            </a:r>
          </a:p>
          <a:p/>
          <a:p>
            <a:r>
              <a:t>■ 想定クライアント / 用途</a:t>
            </a:r>
          </a:p>
          <a:p>
            <a:r>
              <a:t>ライブ・フェス・ポップアップショップ・ミュージアム/展示会・観光地物産・コラボカフェ等。1次案件の例として、アイドルグッズやトレカの“現地限定”系から導入しやすいと考えます。</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868680"/>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0" y="868680"/>
            <a:ext cx="12191695"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320040" y="1078992"/>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20040" y="1243584"/>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320040" y="1408176"/>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84632" y="1078992"/>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84632" y="1243584"/>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84632" y="1408176"/>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9224" y="1078992"/>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49224" y="1243584"/>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9224" y="1408176"/>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13816" y="1078992"/>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13816" y="1243584"/>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13816" y="1408176"/>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78407" y="1078992"/>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78407" y="1243584"/>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978407" y="1408176"/>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43000" y="1078992"/>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143000" y="1243584"/>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1143000" y="1408176"/>
            <a:ext cx="36576" cy="36576"/>
          </a:xfrm>
          <a:prstGeom prst="ellips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11480" y="91440"/>
            <a:ext cx="7772400" cy="502920"/>
          </a:xfrm>
          <a:prstGeom prst="rect">
            <a:avLst/>
          </a:prstGeom>
          <a:noFill/>
        </p:spPr>
        <p:txBody>
          <a:bodyPr wrap="square" lIns="73152" rIns="73152" tIns="36576" bIns="36576" anchor="ctr">
            <a:spAutoFit/>
          </a:bodyPr>
          <a:lstStyle/>
          <a:p>
            <a:pPr algn="l"/>
            <a:r>
              <a:rPr sz="2600" b="1">
                <a:solidFill>
                  <a:srgbClr val="FFFFFF"/>
                </a:solidFill>
                <a:latin typeface="Hiragino Sans"/>
              </a:rPr>
              <a:t>2D自販機 提案書</a:t>
            </a:r>
          </a:p>
        </p:txBody>
      </p:sp>
      <p:sp>
        <p:nvSpPr>
          <p:cNvPr id="24" name="TextBox 23"/>
          <p:cNvSpPr txBox="1"/>
          <p:nvPr/>
        </p:nvSpPr>
        <p:spPr>
          <a:xfrm>
            <a:off x="411480" y="502920"/>
            <a:ext cx="8686800" cy="274320"/>
          </a:xfrm>
          <a:prstGeom prst="rect">
            <a:avLst/>
          </a:prstGeom>
          <a:noFill/>
        </p:spPr>
        <p:txBody>
          <a:bodyPr wrap="square" lIns="73152" rIns="73152" tIns="36576" bIns="36576" anchor="t">
            <a:spAutoFit/>
          </a:bodyPr>
          <a:lstStyle/>
          <a:p>
            <a:pPr algn="l"/>
            <a:r>
              <a:rPr sz="1200" b="0">
                <a:solidFill>
                  <a:srgbClr val="67E8F9"/>
                </a:solidFill>
                <a:latin typeface="Hiragino Sans"/>
              </a:rPr>
              <a:t>ポスターが、そのまま自販機になる。</a:t>
            </a:r>
          </a:p>
        </p:txBody>
      </p:sp>
      <p:sp>
        <p:nvSpPr>
          <p:cNvPr id="25" name="Rounded Rectangle 24"/>
          <p:cNvSpPr/>
          <p:nvPr/>
        </p:nvSpPr>
        <p:spPr>
          <a:xfrm>
            <a:off x="8869680" y="182880"/>
            <a:ext cx="3108960" cy="502920"/>
          </a:xfrm>
          <a:prstGeom prst="roundRect">
            <a:avLst>
              <a:gd name="adj" fmla="val 40000"/>
            </a:avLst>
          </a:prstGeom>
          <a:solidFill>
            <a:srgbClr val="FACC15"/>
          </a:solidFill>
          <a:ln w="9525">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50" b="1">
                <a:solidFill>
                  <a:srgbClr val="0F2A5F"/>
                </a:solidFill>
                <a:latin typeface="Hiragino Sans"/>
              </a:rPr>
              <a:t>現地体験を、その場で買える購買導線へ</a:t>
            </a:r>
          </a:p>
        </p:txBody>
      </p:sp>
      <p:sp>
        <p:nvSpPr>
          <p:cNvPr id="26" name="Rounded Rectangle 25"/>
          <p:cNvSpPr/>
          <p:nvPr/>
        </p:nvSpPr>
        <p:spPr>
          <a:xfrm>
            <a:off x="365760" y="1051560"/>
            <a:ext cx="4617720" cy="3931920"/>
          </a:xfrm>
          <a:prstGeom prst="roundRect">
            <a:avLst>
              <a:gd name="adj" fmla="val 4000"/>
            </a:avLst>
          </a:prstGeom>
          <a:solidFill>
            <a:srgbClr val="FFFFFF"/>
          </a:solidFill>
          <a:ln w="19050">
            <a:solidFill>
              <a:srgbClr val="0F2A5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30352" y="1216152"/>
            <a:ext cx="4288536" cy="384048"/>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Hiragino Sans"/>
              </a:rPr>
              <a:t>2D VENDING MACHINE  ｜  ポスター × 購買導線</a:t>
            </a:r>
          </a:p>
        </p:txBody>
      </p:sp>
      <p:sp>
        <p:nvSpPr>
          <p:cNvPr id="28" name="Rounded Rectangle 27"/>
          <p:cNvSpPr/>
          <p:nvPr/>
        </p:nvSpPr>
        <p:spPr>
          <a:xfrm>
            <a:off x="640080" y="1709928"/>
            <a:ext cx="1325880" cy="1097280"/>
          </a:xfrm>
          <a:prstGeom prst="roundRect">
            <a:avLst>
              <a:gd name="adj" fmla="val 8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713232" y="1783080"/>
            <a:ext cx="274320" cy="201168"/>
          </a:xfrm>
          <a:prstGeom prst="roundRect">
            <a:avLst>
              <a:gd name="adj" fmla="val 40000"/>
            </a:avLst>
          </a:prstGeom>
          <a:solidFill>
            <a:srgbClr val="FACC15"/>
          </a:solidFill>
          <a:ln w="9525">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800" b="1">
                <a:solidFill>
                  <a:srgbClr val="0F2A5F"/>
                </a:solidFill>
                <a:latin typeface="Hiragino Sans"/>
              </a:rPr>
              <a:t>01</a:t>
            </a:r>
          </a:p>
        </p:txBody>
      </p:sp>
      <p:sp>
        <p:nvSpPr>
          <p:cNvPr id="30" name="Rounded Rectangle 29"/>
          <p:cNvSpPr/>
          <p:nvPr/>
        </p:nvSpPr>
        <p:spPr>
          <a:xfrm>
            <a:off x="914400" y="2020824"/>
            <a:ext cx="777240" cy="493776"/>
          </a:xfrm>
          <a:prstGeom prst="roundRect">
            <a:avLst>
              <a:gd name="adj" fmla="val 12000"/>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2532888"/>
            <a:ext cx="1325880" cy="237744"/>
          </a:xfrm>
          <a:prstGeom prst="rect">
            <a:avLst/>
          </a:prstGeom>
          <a:noFill/>
        </p:spPr>
        <p:txBody>
          <a:bodyPr wrap="square" lIns="73152" rIns="73152" tIns="36576" bIns="36576" anchor="ctr">
            <a:spAutoFit/>
          </a:bodyPr>
          <a:lstStyle/>
          <a:p>
            <a:pPr algn="ctr"/>
            <a:r>
              <a:rPr sz="900" b="1">
                <a:solidFill>
                  <a:srgbClr val="0F2A5F"/>
                </a:solidFill>
                <a:latin typeface="Hiragino Sans"/>
              </a:rPr>
              <a:t>限定TEE</a:t>
            </a:r>
          </a:p>
        </p:txBody>
      </p:sp>
      <p:sp>
        <p:nvSpPr>
          <p:cNvPr id="32" name="Oval 31"/>
          <p:cNvSpPr/>
          <p:nvPr/>
        </p:nvSpPr>
        <p:spPr>
          <a:xfrm>
            <a:off x="1673352" y="1801368"/>
            <a:ext cx="182880" cy="182880"/>
          </a:xfrm>
          <a:prstGeom prst="ellipse">
            <a:avLst/>
          </a:prstGeom>
          <a:solidFill>
            <a:srgbClr val="06B6D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800" b="1">
                <a:solidFill>
                  <a:srgbClr val="FFFFFF"/>
                </a:solidFill>
                <a:latin typeface="Hiragino Sans"/>
              </a:rPr>
              <a:t>N</a:t>
            </a:r>
          </a:p>
        </p:txBody>
      </p:sp>
      <p:sp>
        <p:nvSpPr>
          <p:cNvPr id="33" name="Rounded Rectangle 32"/>
          <p:cNvSpPr/>
          <p:nvPr/>
        </p:nvSpPr>
        <p:spPr>
          <a:xfrm>
            <a:off x="2057400" y="1709928"/>
            <a:ext cx="1325880" cy="1097280"/>
          </a:xfrm>
          <a:prstGeom prst="roundRect">
            <a:avLst>
              <a:gd name="adj" fmla="val 8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2130552" y="1783080"/>
            <a:ext cx="274320" cy="201168"/>
          </a:xfrm>
          <a:prstGeom prst="roundRect">
            <a:avLst>
              <a:gd name="adj" fmla="val 40000"/>
            </a:avLst>
          </a:prstGeom>
          <a:solidFill>
            <a:srgbClr val="FACC15"/>
          </a:solidFill>
          <a:ln w="9525">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800" b="1">
                <a:solidFill>
                  <a:srgbClr val="0F2A5F"/>
                </a:solidFill>
                <a:latin typeface="Hiragino Sans"/>
              </a:rPr>
              <a:t>02</a:t>
            </a:r>
          </a:p>
        </p:txBody>
      </p:sp>
      <p:sp>
        <p:nvSpPr>
          <p:cNvPr id="35" name="Rounded Rectangle 34"/>
          <p:cNvSpPr/>
          <p:nvPr/>
        </p:nvSpPr>
        <p:spPr>
          <a:xfrm>
            <a:off x="2331720" y="2020824"/>
            <a:ext cx="777240" cy="493776"/>
          </a:xfrm>
          <a:prstGeom prst="roundRect">
            <a:avLst>
              <a:gd name="adj" fmla="val 12000"/>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2057400" y="2532888"/>
            <a:ext cx="1325880" cy="237744"/>
          </a:xfrm>
          <a:prstGeom prst="rect">
            <a:avLst/>
          </a:prstGeom>
          <a:noFill/>
        </p:spPr>
        <p:txBody>
          <a:bodyPr wrap="square" lIns="73152" rIns="73152" tIns="36576" bIns="36576" anchor="ctr">
            <a:spAutoFit/>
          </a:bodyPr>
          <a:lstStyle/>
          <a:p>
            <a:pPr algn="ctr"/>
            <a:r>
              <a:rPr sz="900" b="1">
                <a:solidFill>
                  <a:srgbClr val="0F2A5F"/>
                </a:solidFill>
                <a:latin typeface="Hiragino Sans"/>
              </a:rPr>
              <a:t>アクスタ</a:t>
            </a:r>
          </a:p>
        </p:txBody>
      </p:sp>
      <p:sp>
        <p:nvSpPr>
          <p:cNvPr id="37" name="Oval 36"/>
          <p:cNvSpPr/>
          <p:nvPr/>
        </p:nvSpPr>
        <p:spPr>
          <a:xfrm>
            <a:off x="3090672" y="1801368"/>
            <a:ext cx="182880" cy="182880"/>
          </a:xfrm>
          <a:prstGeom prst="ellipse">
            <a:avLst/>
          </a:prstGeom>
          <a:solidFill>
            <a:srgbClr val="06B6D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800" b="1">
                <a:solidFill>
                  <a:srgbClr val="FFFFFF"/>
                </a:solidFill>
                <a:latin typeface="Hiragino Sans"/>
              </a:rPr>
              <a:t>N</a:t>
            </a:r>
          </a:p>
        </p:txBody>
      </p:sp>
      <p:sp>
        <p:nvSpPr>
          <p:cNvPr id="38" name="Rounded Rectangle 37"/>
          <p:cNvSpPr/>
          <p:nvPr/>
        </p:nvSpPr>
        <p:spPr>
          <a:xfrm>
            <a:off x="3474720" y="1709928"/>
            <a:ext cx="1325880" cy="1097280"/>
          </a:xfrm>
          <a:prstGeom prst="roundRect">
            <a:avLst>
              <a:gd name="adj" fmla="val 8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3547872" y="1783080"/>
            <a:ext cx="274320" cy="201168"/>
          </a:xfrm>
          <a:prstGeom prst="roundRect">
            <a:avLst>
              <a:gd name="adj" fmla="val 40000"/>
            </a:avLst>
          </a:prstGeom>
          <a:solidFill>
            <a:srgbClr val="FACC15"/>
          </a:solidFill>
          <a:ln w="9525">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800" b="1">
                <a:solidFill>
                  <a:srgbClr val="0F2A5F"/>
                </a:solidFill>
                <a:latin typeface="Hiragino Sans"/>
              </a:rPr>
              <a:t>03</a:t>
            </a:r>
          </a:p>
        </p:txBody>
      </p:sp>
      <p:sp>
        <p:nvSpPr>
          <p:cNvPr id="40" name="Rounded Rectangle 39"/>
          <p:cNvSpPr/>
          <p:nvPr/>
        </p:nvSpPr>
        <p:spPr>
          <a:xfrm>
            <a:off x="3749040" y="2020824"/>
            <a:ext cx="777240" cy="493776"/>
          </a:xfrm>
          <a:prstGeom prst="roundRect">
            <a:avLst>
              <a:gd name="adj" fmla="val 12000"/>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3474720" y="2532888"/>
            <a:ext cx="1325880" cy="237744"/>
          </a:xfrm>
          <a:prstGeom prst="rect">
            <a:avLst/>
          </a:prstGeom>
          <a:noFill/>
        </p:spPr>
        <p:txBody>
          <a:bodyPr wrap="square" lIns="73152" rIns="73152" tIns="36576" bIns="36576" anchor="ctr">
            <a:spAutoFit/>
          </a:bodyPr>
          <a:lstStyle/>
          <a:p>
            <a:pPr algn="ctr"/>
            <a:r>
              <a:rPr sz="900" b="1">
                <a:solidFill>
                  <a:srgbClr val="0F2A5F"/>
                </a:solidFill>
                <a:latin typeface="Hiragino Sans"/>
              </a:rPr>
              <a:t>コラボCD</a:t>
            </a:r>
          </a:p>
        </p:txBody>
      </p:sp>
      <p:sp>
        <p:nvSpPr>
          <p:cNvPr id="42" name="Oval 41"/>
          <p:cNvSpPr/>
          <p:nvPr/>
        </p:nvSpPr>
        <p:spPr>
          <a:xfrm>
            <a:off x="4507992" y="1801368"/>
            <a:ext cx="182880" cy="182880"/>
          </a:xfrm>
          <a:prstGeom prst="ellipse">
            <a:avLst/>
          </a:prstGeom>
          <a:solidFill>
            <a:srgbClr val="06B6D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800" b="1">
                <a:solidFill>
                  <a:srgbClr val="FFFFFF"/>
                </a:solidFill>
                <a:latin typeface="Hiragino Sans"/>
              </a:rPr>
              <a:t>N</a:t>
            </a:r>
          </a:p>
        </p:txBody>
      </p:sp>
      <p:sp>
        <p:nvSpPr>
          <p:cNvPr id="43" name="Rounded Rectangle 42"/>
          <p:cNvSpPr/>
          <p:nvPr/>
        </p:nvSpPr>
        <p:spPr>
          <a:xfrm>
            <a:off x="640080" y="2916936"/>
            <a:ext cx="1325880" cy="1097280"/>
          </a:xfrm>
          <a:prstGeom prst="roundRect">
            <a:avLst>
              <a:gd name="adj" fmla="val 8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713232" y="2990088"/>
            <a:ext cx="274320" cy="201168"/>
          </a:xfrm>
          <a:prstGeom prst="roundRect">
            <a:avLst>
              <a:gd name="adj" fmla="val 40000"/>
            </a:avLst>
          </a:prstGeom>
          <a:solidFill>
            <a:srgbClr val="FACC15"/>
          </a:solidFill>
          <a:ln w="9525">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800" b="1">
                <a:solidFill>
                  <a:srgbClr val="0F2A5F"/>
                </a:solidFill>
                <a:latin typeface="Hiragino Sans"/>
              </a:rPr>
              <a:t>04</a:t>
            </a:r>
          </a:p>
        </p:txBody>
      </p:sp>
      <p:sp>
        <p:nvSpPr>
          <p:cNvPr id="45" name="Rounded Rectangle 44"/>
          <p:cNvSpPr/>
          <p:nvPr/>
        </p:nvSpPr>
        <p:spPr>
          <a:xfrm>
            <a:off x="914400" y="3227832"/>
            <a:ext cx="777240" cy="493776"/>
          </a:xfrm>
          <a:prstGeom prst="roundRect">
            <a:avLst>
              <a:gd name="adj" fmla="val 12000"/>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40080" y="3739896"/>
            <a:ext cx="1325880" cy="237744"/>
          </a:xfrm>
          <a:prstGeom prst="rect">
            <a:avLst/>
          </a:prstGeom>
          <a:noFill/>
        </p:spPr>
        <p:txBody>
          <a:bodyPr wrap="square" lIns="73152" rIns="73152" tIns="36576" bIns="36576" anchor="ctr">
            <a:spAutoFit/>
          </a:bodyPr>
          <a:lstStyle/>
          <a:p>
            <a:pPr algn="ctr"/>
            <a:r>
              <a:rPr sz="900" b="1">
                <a:solidFill>
                  <a:srgbClr val="0F2A5F"/>
                </a:solidFill>
                <a:latin typeface="Hiragino Sans"/>
              </a:rPr>
              <a:t>トレカ</a:t>
            </a:r>
          </a:p>
        </p:txBody>
      </p:sp>
      <p:sp>
        <p:nvSpPr>
          <p:cNvPr id="47" name="Oval 46"/>
          <p:cNvSpPr/>
          <p:nvPr/>
        </p:nvSpPr>
        <p:spPr>
          <a:xfrm>
            <a:off x="1673352" y="3008376"/>
            <a:ext cx="182880" cy="182880"/>
          </a:xfrm>
          <a:prstGeom prst="ellipse">
            <a:avLst/>
          </a:prstGeom>
          <a:solidFill>
            <a:srgbClr val="06B6D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800" b="1">
                <a:solidFill>
                  <a:srgbClr val="FFFFFF"/>
                </a:solidFill>
                <a:latin typeface="Hiragino Sans"/>
              </a:rPr>
              <a:t>N</a:t>
            </a:r>
          </a:p>
        </p:txBody>
      </p:sp>
      <p:sp>
        <p:nvSpPr>
          <p:cNvPr id="48" name="Rounded Rectangle 47"/>
          <p:cNvSpPr/>
          <p:nvPr/>
        </p:nvSpPr>
        <p:spPr>
          <a:xfrm>
            <a:off x="2057400" y="2916936"/>
            <a:ext cx="1325880" cy="1097280"/>
          </a:xfrm>
          <a:prstGeom prst="roundRect">
            <a:avLst>
              <a:gd name="adj" fmla="val 8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unded Rectangle 48"/>
          <p:cNvSpPr/>
          <p:nvPr/>
        </p:nvSpPr>
        <p:spPr>
          <a:xfrm>
            <a:off x="2130552" y="2990088"/>
            <a:ext cx="274320" cy="201168"/>
          </a:xfrm>
          <a:prstGeom prst="roundRect">
            <a:avLst>
              <a:gd name="adj" fmla="val 40000"/>
            </a:avLst>
          </a:prstGeom>
          <a:solidFill>
            <a:srgbClr val="FACC15"/>
          </a:solidFill>
          <a:ln w="9525">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800" b="1">
                <a:solidFill>
                  <a:srgbClr val="0F2A5F"/>
                </a:solidFill>
                <a:latin typeface="Hiragino Sans"/>
              </a:rPr>
              <a:t>05</a:t>
            </a:r>
          </a:p>
        </p:txBody>
      </p:sp>
      <p:sp>
        <p:nvSpPr>
          <p:cNvPr id="50" name="Rounded Rectangle 49"/>
          <p:cNvSpPr/>
          <p:nvPr/>
        </p:nvSpPr>
        <p:spPr>
          <a:xfrm>
            <a:off x="2331720" y="3227832"/>
            <a:ext cx="777240" cy="493776"/>
          </a:xfrm>
          <a:prstGeom prst="roundRect">
            <a:avLst>
              <a:gd name="adj" fmla="val 12000"/>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2057400" y="3739896"/>
            <a:ext cx="1325880" cy="237744"/>
          </a:xfrm>
          <a:prstGeom prst="rect">
            <a:avLst/>
          </a:prstGeom>
          <a:noFill/>
        </p:spPr>
        <p:txBody>
          <a:bodyPr wrap="square" lIns="73152" rIns="73152" tIns="36576" bIns="36576" anchor="ctr">
            <a:spAutoFit/>
          </a:bodyPr>
          <a:lstStyle/>
          <a:p>
            <a:pPr algn="ctr"/>
            <a:r>
              <a:rPr sz="900" b="1">
                <a:solidFill>
                  <a:srgbClr val="0F2A5F"/>
                </a:solidFill>
                <a:latin typeface="Hiragino Sans"/>
              </a:rPr>
              <a:t>缶バッジ</a:t>
            </a:r>
          </a:p>
        </p:txBody>
      </p:sp>
      <p:sp>
        <p:nvSpPr>
          <p:cNvPr id="52" name="Oval 51"/>
          <p:cNvSpPr/>
          <p:nvPr/>
        </p:nvSpPr>
        <p:spPr>
          <a:xfrm>
            <a:off x="3090672" y="3008376"/>
            <a:ext cx="182880" cy="182880"/>
          </a:xfrm>
          <a:prstGeom prst="ellipse">
            <a:avLst/>
          </a:prstGeom>
          <a:solidFill>
            <a:srgbClr val="06B6D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800" b="1">
                <a:solidFill>
                  <a:srgbClr val="FFFFFF"/>
                </a:solidFill>
                <a:latin typeface="Hiragino Sans"/>
              </a:rPr>
              <a:t>N</a:t>
            </a:r>
          </a:p>
        </p:txBody>
      </p:sp>
      <p:sp>
        <p:nvSpPr>
          <p:cNvPr id="53" name="Rounded Rectangle 52"/>
          <p:cNvSpPr/>
          <p:nvPr/>
        </p:nvSpPr>
        <p:spPr>
          <a:xfrm>
            <a:off x="3474720" y="2916936"/>
            <a:ext cx="1325880" cy="1097280"/>
          </a:xfrm>
          <a:prstGeom prst="roundRect">
            <a:avLst>
              <a:gd name="adj" fmla="val 8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3547872" y="2990088"/>
            <a:ext cx="274320" cy="201168"/>
          </a:xfrm>
          <a:prstGeom prst="roundRect">
            <a:avLst>
              <a:gd name="adj" fmla="val 40000"/>
            </a:avLst>
          </a:prstGeom>
          <a:solidFill>
            <a:srgbClr val="FACC15"/>
          </a:solidFill>
          <a:ln w="9525">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800" b="1">
                <a:solidFill>
                  <a:srgbClr val="0F2A5F"/>
                </a:solidFill>
                <a:latin typeface="Hiragino Sans"/>
              </a:rPr>
              <a:t>06</a:t>
            </a:r>
          </a:p>
        </p:txBody>
      </p:sp>
      <p:sp>
        <p:nvSpPr>
          <p:cNvPr id="55" name="Rounded Rectangle 54"/>
          <p:cNvSpPr/>
          <p:nvPr/>
        </p:nvSpPr>
        <p:spPr>
          <a:xfrm>
            <a:off x="3749040" y="3227832"/>
            <a:ext cx="777240" cy="493776"/>
          </a:xfrm>
          <a:prstGeom prst="roundRect">
            <a:avLst>
              <a:gd name="adj" fmla="val 12000"/>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3474720" y="3739896"/>
            <a:ext cx="1325880" cy="237744"/>
          </a:xfrm>
          <a:prstGeom prst="rect">
            <a:avLst/>
          </a:prstGeom>
          <a:noFill/>
        </p:spPr>
        <p:txBody>
          <a:bodyPr wrap="square" lIns="73152" rIns="73152" tIns="36576" bIns="36576" anchor="ctr">
            <a:spAutoFit/>
          </a:bodyPr>
          <a:lstStyle/>
          <a:p>
            <a:pPr algn="ctr"/>
            <a:r>
              <a:rPr sz="900" b="1">
                <a:solidFill>
                  <a:srgbClr val="0F2A5F"/>
                </a:solidFill>
                <a:latin typeface="Hiragino Sans"/>
              </a:rPr>
              <a:t>ポスター</a:t>
            </a:r>
          </a:p>
        </p:txBody>
      </p:sp>
      <p:sp>
        <p:nvSpPr>
          <p:cNvPr id="57" name="Oval 56"/>
          <p:cNvSpPr/>
          <p:nvPr/>
        </p:nvSpPr>
        <p:spPr>
          <a:xfrm>
            <a:off x="4507992" y="3008376"/>
            <a:ext cx="182880" cy="182880"/>
          </a:xfrm>
          <a:prstGeom prst="ellipse">
            <a:avLst/>
          </a:prstGeom>
          <a:solidFill>
            <a:srgbClr val="06B6D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800" b="1">
                <a:solidFill>
                  <a:srgbClr val="FFFFFF"/>
                </a:solidFill>
                <a:latin typeface="Hiragino Sans"/>
              </a:rPr>
              <a:t>N</a:t>
            </a:r>
          </a:p>
        </p:txBody>
      </p:sp>
      <p:sp>
        <p:nvSpPr>
          <p:cNvPr id="58" name="Rounded Rectangle 57"/>
          <p:cNvSpPr/>
          <p:nvPr/>
        </p:nvSpPr>
        <p:spPr>
          <a:xfrm>
            <a:off x="640080" y="4169664"/>
            <a:ext cx="1325880" cy="841248"/>
          </a:xfrm>
          <a:prstGeom prst="roundRect">
            <a:avLst>
              <a:gd name="adj" fmla="val 10000"/>
            </a:avLst>
          </a:prstGeom>
          <a:solidFill>
            <a:srgbClr val="0F2A5F"/>
          </a:solidFill>
          <a:ln w="9525">
            <a:solidFill>
              <a:srgbClr val="0F2A5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FFFFFF"/>
                </a:solidFill>
                <a:latin typeface="Hiragino Sans"/>
              </a:rPr>
              <a:t>📡 NFC
</a:t>
            </a:r>
            <a:r>
              <a:rPr sz="900" b="0">
                <a:solidFill>
                  <a:srgbClr val="67E8F9"/>
                </a:solidFill>
                <a:latin typeface="Hiragino Sans"/>
              </a:rPr>
              <a:t>スマホでタッチ</a:t>
            </a:r>
          </a:p>
        </p:txBody>
      </p:sp>
      <p:sp>
        <p:nvSpPr>
          <p:cNvPr id="59" name="Rounded Rectangle 58"/>
          <p:cNvSpPr/>
          <p:nvPr/>
        </p:nvSpPr>
        <p:spPr>
          <a:xfrm>
            <a:off x="2057400" y="4169664"/>
            <a:ext cx="1325880" cy="841248"/>
          </a:xfrm>
          <a:prstGeom prst="roundRect">
            <a:avLst>
              <a:gd name="adj" fmla="val 10000"/>
            </a:avLst>
          </a:prstGeom>
          <a:solidFill>
            <a:srgbClr val="FFFFFF"/>
          </a:solidFill>
          <a:ln w="19050">
            <a:solidFill>
              <a:srgbClr val="0F2A5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2221992" y="4297680"/>
            <a:ext cx="566928" cy="566928"/>
          </a:xfrm>
          <a:prstGeom prst="rect">
            <a:avLst/>
          </a:prstGeom>
          <a:solidFill>
            <a:srgbClr val="FFFFFF"/>
          </a:solidFill>
          <a:ln w="12700">
            <a:solidFill>
              <a:srgbClr val="0F2A5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2258568" y="4334256"/>
            <a:ext cx="164592" cy="164592"/>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2587752" y="4334256"/>
            <a:ext cx="164592" cy="164592"/>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2258568" y="4663440"/>
            <a:ext cx="164592" cy="164592"/>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2432304" y="4343400"/>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2432304" y="4398264"/>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2487168" y="4398264"/>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2432304" y="4453128"/>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2267712" y="4507992"/>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2322576" y="4507992"/>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2377440" y="4507992"/>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2487168" y="4507992"/>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2651760" y="4507992"/>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2322576" y="4562856"/>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2377440" y="4562856"/>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2432304" y="4562856"/>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2542032" y="4562856"/>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2596896" y="4562856"/>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2487168" y="4617720"/>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2432304" y="4672584"/>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2487168" y="4672584"/>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2596896" y="4672584"/>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2542032" y="4727448"/>
            <a:ext cx="54864" cy="54864"/>
          </a:xfrm>
          <a:prstGeom prst="rect">
            <a:avLst/>
          </a:prstGeom>
          <a:solidFill>
            <a:srgbClr val="0F2A5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2834640" y="4334256"/>
            <a:ext cx="502920" cy="502920"/>
          </a:xfrm>
          <a:prstGeom prst="rect">
            <a:avLst/>
          </a:prstGeom>
          <a:noFill/>
        </p:spPr>
        <p:txBody>
          <a:bodyPr wrap="square" lIns="73152" rIns="73152" tIns="36576" bIns="36576" anchor="ctr">
            <a:spAutoFit/>
          </a:bodyPr>
          <a:lstStyle/>
          <a:p>
            <a:pPr algn="l"/>
            <a:r>
              <a:rPr sz="1000" b="1">
                <a:solidFill>
                  <a:srgbClr val="0F2A5F"/>
                </a:solidFill>
                <a:latin typeface="Hiragino Sans"/>
              </a:rPr>
              <a:t>QR
</a:t>
            </a:r>
            <a:r>
              <a:rPr sz="800" b="0">
                <a:solidFill>
                  <a:srgbClr val="475569"/>
                </a:solidFill>
                <a:latin typeface="Hiragino Sans"/>
              </a:rPr>
              <a:t>読み取り</a:t>
            </a:r>
          </a:p>
        </p:txBody>
      </p:sp>
      <p:sp>
        <p:nvSpPr>
          <p:cNvPr id="84" name="Rounded Rectangle 83"/>
          <p:cNvSpPr/>
          <p:nvPr/>
        </p:nvSpPr>
        <p:spPr>
          <a:xfrm>
            <a:off x="3474720" y="4169664"/>
            <a:ext cx="1325880" cy="841248"/>
          </a:xfrm>
          <a:prstGeom prst="roundRect">
            <a:avLst>
              <a:gd name="adj" fmla="val 10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ounded Rectangle 84"/>
          <p:cNvSpPr/>
          <p:nvPr/>
        </p:nvSpPr>
        <p:spPr>
          <a:xfrm>
            <a:off x="3749040" y="4261104"/>
            <a:ext cx="502920" cy="658368"/>
          </a:xfrm>
          <a:prstGeom prst="roundRect">
            <a:avLst>
              <a:gd name="adj" fmla="val 18000"/>
            </a:avLst>
          </a:prstGeom>
          <a:solidFill>
            <a:srgbClr val="0F2A5F"/>
          </a:solidFill>
          <a:ln w="9525">
            <a:solidFill>
              <a:srgbClr val="0F2A5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ounded Rectangle 85"/>
          <p:cNvSpPr/>
          <p:nvPr/>
        </p:nvSpPr>
        <p:spPr>
          <a:xfrm>
            <a:off x="3794760" y="4325112"/>
            <a:ext cx="411480" cy="530352"/>
          </a:xfrm>
          <a:prstGeom prst="roundRect">
            <a:avLst>
              <a:gd name="adj" fmla="val 10000"/>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4288536" y="4562856"/>
            <a:ext cx="54864" cy="54864"/>
          </a:xfrm>
          <a:prstGeom prst="ellipse">
            <a:avLst/>
          </a:prstGeom>
          <a:solidFill>
            <a:srgbClr val="06B6D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Oval 87"/>
          <p:cNvSpPr/>
          <p:nvPr/>
        </p:nvSpPr>
        <p:spPr>
          <a:xfrm>
            <a:off x="4379976" y="4544567"/>
            <a:ext cx="91440" cy="91440"/>
          </a:xfrm>
          <a:prstGeom prst="ellipse">
            <a:avLst/>
          </a:prstGeom>
          <a:no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Oval 88"/>
          <p:cNvSpPr/>
          <p:nvPr/>
        </p:nvSpPr>
        <p:spPr>
          <a:xfrm>
            <a:off x="4471416" y="4526280"/>
            <a:ext cx="128016" cy="128016"/>
          </a:xfrm>
          <a:prstGeom prst="ellipse">
            <a:avLst/>
          </a:prstGeom>
          <a:no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4343400" y="4334256"/>
            <a:ext cx="457200" cy="502920"/>
          </a:xfrm>
          <a:prstGeom prst="rect">
            <a:avLst/>
          </a:prstGeom>
          <a:noFill/>
        </p:spPr>
        <p:txBody>
          <a:bodyPr wrap="square" lIns="73152" rIns="73152" tIns="36576" bIns="36576" anchor="ctr">
            <a:spAutoFit/>
          </a:bodyPr>
          <a:lstStyle/>
          <a:p>
            <a:pPr algn="l"/>
            <a:r>
              <a:rPr sz="1000" b="1">
                <a:solidFill>
                  <a:srgbClr val="0F2A5F"/>
                </a:solidFill>
                <a:latin typeface="Hiragino Sans"/>
              </a:rPr>
              <a:t>Touch
</a:t>
            </a:r>
            <a:r>
              <a:rPr sz="800" b="0">
                <a:solidFill>
                  <a:srgbClr val="475569"/>
                </a:solidFill>
                <a:latin typeface="Hiragino Sans"/>
              </a:rPr>
              <a:t>で完了</a:t>
            </a:r>
          </a:p>
        </p:txBody>
      </p:sp>
      <p:sp>
        <p:nvSpPr>
          <p:cNvPr id="91" name="TextBox 90"/>
          <p:cNvSpPr txBox="1"/>
          <p:nvPr/>
        </p:nvSpPr>
        <p:spPr>
          <a:xfrm>
            <a:off x="365760" y="5029200"/>
            <a:ext cx="4617720" cy="274320"/>
          </a:xfrm>
          <a:prstGeom prst="rect">
            <a:avLst/>
          </a:prstGeom>
          <a:noFill/>
        </p:spPr>
        <p:txBody>
          <a:bodyPr wrap="square" lIns="73152" rIns="73152" tIns="36576" bIns="36576" anchor="t">
            <a:spAutoFit/>
          </a:bodyPr>
          <a:lstStyle/>
          <a:p>
            <a:pPr algn="ctr"/>
            <a:r>
              <a:rPr sz="1000" b="1">
                <a:solidFill>
                  <a:srgbClr val="0F2A5F"/>
                </a:solidFill>
                <a:latin typeface="Hiragino Sans"/>
              </a:rPr>
              <a:t>ポスター・パネル・POPに商品枠＋NFC/QRを配置するだけ。</a:t>
            </a:r>
          </a:p>
        </p:txBody>
      </p:sp>
      <p:sp>
        <p:nvSpPr>
          <p:cNvPr id="92" name="Rounded Rectangle 91"/>
          <p:cNvSpPr/>
          <p:nvPr/>
        </p:nvSpPr>
        <p:spPr>
          <a:xfrm>
            <a:off x="5166360" y="1051560"/>
            <a:ext cx="6675120" cy="457200"/>
          </a:xfrm>
          <a:prstGeom prst="roundRect">
            <a:avLst>
              <a:gd name="adj" fmla="val 12000"/>
            </a:avLst>
          </a:prstGeom>
          <a:solidFill>
            <a:srgbClr val="0F2A5F"/>
          </a:solidFill>
          <a:ln w="9525">
            <a:solidFill>
              <a:srgbClr val="0F2A5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00" b="1">
                <a:solidFill>
                  <a:srgbClr val="FACC15"/>
                </a:solidFill>
                <a:latin typeface="Hiragino Sans"/>
              </a:rPr>
              <a:t>CONCEPT  </a:t>
            </a:r>
            <a:r>
              <a:rPr sz="1200" b="1">
                <a:solidFill>
                  <a:srgbClr val="FFFFFF"/>
                </a:solidFill>
                <a:latin typeface="Hiragino Sans"/>
              </a:rPr>
              <a:t>見る  →  タッチする  →  買う  →  受け取る</a:t>
            </a:r>
          </a:p>
        </p:txBody>
      </p:sp>
      <p:sp>
        <p:nvSpPr>
          <p:cNvPr id="93" name="Rounded Rectangle 92"/>
          <p:cNvSpPr/>
          <p:nvPr/>
        </p:nvSpPr>
        <p:spPr>
          <a:xfrm>
            <a:off x="5166360" y="1600200"/>
            <a:ext cx="6675120" cy="100584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ounded Rectangle 93"/>
          <p:cNvSpPr/>
          <p:nvPr/>
        </p:nvSpPr>
        <p:spPr>
          <a:xfrm>
            <a:off x="5303520" y="1691640"/>
            <a:ext cx="1005840" cy="256032"/>
          </a:xfrm>
          <a:prstGeom prst="roundRect">
            <a:avLst>
              <a:gd name="adj" fmla="val 40000"/>
            </a:avLst>
          </a:prstGeom>
          <a:solidFill>
            <a:srgbClr val="06B6D4"/>
          </a:solidFill>
          <a:ln w="95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00" b="1">
                <a:solidFill>
                  <a:srgbClr val="FFFFFF"/>
                </a:solidFill>
                <a:latin typeface="Hiragino Sans"/>
              </a:rPr>
              <a:t>OVERVIEW</a:t>
            </a:r>
          </a:p>
        </p:txBody>
      </p:sp>
      <p:sp>
        <p:nvSpPr>
          <p:cNvPr id="95" name="TextBox 94"/>
          <p:cNvSpPr txBox="1"/>
          <p:nvPr/>
        </p:nvSpPr>
        <p:spPr>
          <a:xfrm>
            <a:off x="6446520" y="1691640"/>
            <a:ext cx="5257800" cy="822960"/>
          </a:xfrm>
          <a:prstGeom prst="rect">
            <a:avLst/>
          </a:prstGeom>
          <a:noFill/>
        </p:spPr>
        <p:txBody>
          <a:bodyPr wrap="square" anchor="t">
            <a:spAutoFit/>
          </a:bodyPr>
          <a:lstStyle/>
          <a:p>
            <a:pPr algn="l">
              <a:lnSpc>
                <a:spcPct val="120000"/>
              </a:lnSpc>
            </a:pPr>
            <a:r>
              <a:rPr sz="1050" b="1">
                <a:solidFill>
                  <a:srgbClr val="0F2A5F"/>
                </a:solidFill>
                <a:latin typeface="Hiragino Sans"/>
              </a:rPr>
              <a:t>ポスター・パネル・POP</a:t>
            </a:r>
            <a:r>
              <a:rPr sz="1050" b="0">
                <a:solidFill>
                  <a:srgbClr val="0F172A"/>
                </a:solidFill>
                <a:latin typeface="Hiragino Sans"/>
              </a:rPr>
              <a:t>などの平面デザインに</a:t>
            </a:r>
            <a:r>
              <a:rPr sz="1050" b="1">
                <a:solidFill>
                  <a:srgbClr val="1E40AF"/>
                </a:solidFill>
                <a:latin typeface="Hiragino Sans"/>
              </a:rPr>
              <a:t>商品枠</a:t>
            </a:r>
            <a:r>
              <a:rPr sz="1050" b="0">
                <a:solidFill>
                  <a:srgbClr val="0F172A"/>
                </a:solidFill>
                <a:latin typeface="Hiragino Sans"/>
              </a:rPr>
              <a:t>を配置し、</a:t>
            </a:r>
            <a:r>
              <a:rPr sz="1050" b="1">
                <a:solidFill>
                  <a:srgbClr val="1E40AF"/>
                </a:solidFill>
                <a:latin typeface="Hiragino Sans"/>
              </a:rPr>
              <a:t>NFCタッチ／QR読み取り</a:t>
            </a:r>
            <a:r>
              <a:rPr sz="1050" b="0">
                <a:solidFill>
                  <a:srgbClr val="0F172A"/>
                </a:solidFill>
                <a:latin typeface="Hiragino Sans"/>
              </a:rPr>
              <a:t>で購入できる仕組み。</a:t>
            </a:r>
          </a:p>
          <a:p>
            <a:pPr algn="l">
              <a:lnSpc>
                <a:spcPct val="120000"/>
              </a:lnSpc>
            </a:pPr>
            <a:r>
              <a:rPr sz="1050" b="1">
                <a:solidFill>
                  <a:srgbClr val="0F2A5F"/>
                </a:solidFill>
                <a:latin typeface="Hiragino Sans"/>
              </a:rPr>
              <a:t>大型機器なし</a:t>
            </a:r>
            <a:r>
              <a:rPr sz="1050" b="0">
                <a:solidFill>
                  <a:srgbClr val="0F172A"/>
                </a:solidFill>
                <a:latin typeface="Hiragino Sans"/>
              </a:rPr>
              <a:t>で、イベント会場・店舗・観光地・ライブ会場に</a:t>
            </a:r>
            <a:r>
              <a:rPr sz="1050" b="1">
                <a:solidFill>
                  <a:srgbClr val="1E40AF"/>
                </a:solidFill>
                <a:latin typeface="Hiragino Sans"/>
              </a:rPr>
              <a:t>“その場で買える売り場”</a:t>
            </a:r>
            <a:r>
              <a:rPr sz="1050" b="0">
                <a:solidFill>
                  <a:srgbClr val="0F172A"/>
                </a:solidFill>
                <a:latin typeface="Hiragino Sans"/>
              </a:rPr>
              <a:t>を生み出す。</a:t>
            </a:r>
          </a:p>
        </p:txBody>
      </p:sp>
      <p:sp>
        <p:nvSpPr>
          <p:cNvPr id="96" name="Rounded Rectangle 95"/>
          <p:cNvSpPr/>
          <p:nvPr/>
        </p:nvSpPr>
        <p:spPr>
          <a:xfrm>
            <a:off x="5166360" y="2715768"/>
            <a:ext cx="6675120" cy="141732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ounded Rectangle 96"/>
          <p:cNvSpPr/>
          <p:nvPr/>
        </p:nvSpPr>
        <p:spPr>
          <a:xfrm>
            <a:off x="5303520" y="2807208"/>
            <a:ext cx="1188720" cy="256032"/>
          </a:xfrm>
          <a:prstGeom prst="roundRect">
            <a:avLst>
              <a:gd name="adj" fmla="val 40000"/>
            </a:avLst>
          </a:prstGeom>
          <a:solidFill>
            <a:srgbClr val="1E40AF"/>
          </a:solidFill>
          <a:ln w="9525">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00" b="1">
                <a:solidFill>
                  <a:srgbClr val="FFFFFF"/>
                </a:solidFill>
                <a:latin typeface="Hiragino Sans"/>
              </a:rPr>
              <a:t>受取方法</a:t>
            </a:r>
          </a:p>
        </p:txBody>
      </p:sp>
      <p:sp>
        <p:nvSpPr>
          <p:cNvPr id="98" name="Rounded Rectangle 97"/>
          <p:cNvSpPr/>
          <p:nvPr/>
        </p:nvSpPr>
        <p:spPr>
          <a:xfrm>
            <a:off x="5303520" y="3127248"/>
            <a:ext cx="2087880" cy="914400"/>
          </a:xfrm>
          <a:prstGeom prst="roundRect">
            <a:avLst>
              <a:gd name="adj" fmla="val 8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5376672" y="3182112"/>
            <a:ext cx="1941576" cy="237744"/>
          </a:xfrm>
          <a:prstGeom prst="rect">
            <a:avLst/>
          </a:prstGeom>
          <a:noFill/>
        </p:spPr>
        <p:txBody>
          <a:bodyPr wrap="square" lIns="73152" rIns="73152" tIns="36576" bIns="36576" anchor="ctr">
            <a:spAutoFit/>
          </a:bodyPr>
          <a:lstStyle/>
          <a:p>
            <a:pPr algn="l"/>
            <a:r>
              <a:rPr sz="1000" b="1">
                <a:solidFill>
                  <a:srgbClr val="0F2A5F"/>
                </a:solidFill>
                <a:latin typeface="Hiragino Sans"/>
              </a:rPr>
              <a:t>📍 現地受取</a:t>
            </a:r>
          </a:p>
        </p:txBody>
      </p:sp>
      <p:sp>
        <p:nvSpPr>
          <p:cNvPr id="100" name="TextBox 99"/>
          <p:cNvSpPr txBox="1"/>
          <p:nvPr/>
        </p:nvSpPr>
        <p:spPr>
          <a:xfrm>
            <a:off x="5376672" y="3419856"/>
            <a:ext cx="1941576" cy="548640"/>
          </a:xfrm>
          <a:prstGeom prst="rect">
            <a:avLst/>
          </a:prstGeom>
          <a:noFill/>
        </p:spPr>
        <p:txBody>
          <a:bodyPr wrap="square" anchor="t">
            <a:spAutoFit/>
          </a:bodyPr>
          <a:lstStyle/>
          <a:p>
            <a:pPr algn="l">
              <a:lnSpc>
                <a:spcPct val="115000"/>
              </a:lnSpc>
            </a:pPr>
            <a:r>
              <a:rPr sz="880" b="1">
                <a:solidFill>
                  <a:srgbClr val="0F2A5F"/>
                </a:solidFill>
                <a:latin typeface="Hiragino Sans"/>
              </a:rPr>
              <a:t>注文番号／QR提示</a:t>
            </a:r>
            <a:r>
              <a:rPr sz="880" b="0">
                <a:solidFill>
                  <a:srgbClr val="0F172A"/>
                </a:solidFill>
                <a:latin typeface="Hiragino Sans"/>
              </a:rPr>
              <a:t>で受取所にスムーズ引渡し。</a:t>
            </a:r>
            <a:r>
              <a:rPr sz="880" b="1">
                <a:solidFill>
                  <a:srgbClr val="1E40AF"/>
                </a:solidFill>
                <a:latin typeface="Hiragino Sans"/>
              </a:rPr>
              <a:t>事前購入で在庫確保</a:t>
            </a:r>
            <a:r>
              <a:rPr sz="880" b="0">
                <a:solidFill>
                  <a:srgbClr val="0F172A"/>
                </a:solidFill>
                <a:latin typeface="Hiragino Sans"/>
              </a:rPr>
              <a:t>、ファストパス的に列をスキップ。</a:t>
            </a:r>
          </a:p>
        </p:txBody>
      </p:sp>
      <p:sp>
        <p:nvSpPr>
          <p:cNvPr id="101" name="Rounded Rectangle 100"/>
          <p:cNvSpPr/>
          <p:nvPr/>
        </p:nvSpPr>
        <p:spPr>
          <a:xfrm>
            <a:off x="7459980" y="3127248"/>
            <a:ext cx="2087880" cy="914400"/>
          </a:xfrm>
          <a:prstGeom prst="roundRect">
            <a:avLst>
              <a:gd name="adj" fmla="val 8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7533132" y="3182112"/>
            <a:ext cx="1941576" cy="237744"/>
          </a:xfrm>
          <a:prstGeom prst="rect">
            <a:avLst/>
          </a:prstGeom>
          <a:noFill/>
        </p:spPr>
        <p:txBody>
          <a:bodyPr wrap="square" lIns="73152" rIns="73152" tIns="36576" bIns="36576" anchor="ctr">
            <a:spAutoFit/>
          </a:bodyPr>
          <a:lstStyle/>
          <a:p>
            <a:pPr algn="l"/>
            <a:r>
              <a:rPr sz="1000" b="1">
                <a:solidFill>
                  <a:srgbClr val="0F2A5F"/>
                </a:solidFill>
                <a:latin typeface="Hiragino Sans"/>
              </a:rPr>
              <a:t>🚚 オンライン配送</a:t>
            </a:r>
          </a:p>
        </p:txBody>
      </p:sp>
      <p:sp>
        <p:nvSpPr>
          <p:cNvPr id="103" name="TextBox 102"/>
          <p:cNvSpPr txBox="1"/>
          <p:nvPr/>
        </p:nvSpPr>
        <p:spPr>
          <a:xfrm>
            <a:off x="7533132" y="3419856"/>
            <a:ext cx="1941576" cy="548640"/>
          </a:xfrm>
          <a:prstGeom prst="rect">
            <a:avLst/>
          </a:prstGeom>
          <a:noFill/>
        </p:spPr>
        <p:txBody>
          <a:bodyPr wrap="square" anchor="t">
            <a:spAutoFit/>
          </a:bodyPr>
          <a:lstStyle/>
          <a:p>
            <a:pPr algn="l">
              <a:lnSpc>
                <a:spcPct val="115000"/>
              </a:lnSpc>
            </a:pPr>
            <a:r>
              <a:rPr sz="880" b="0">
                <a:solidFill>
                  <a:srgbClr val="0F172A"/>
                </a:solidFill>
                <a:latin typeface="Hiragino Sans"/>
              </a:rPr>
              <a:t>購入後そのまま配送指定。</a:t>
            </a:r>
            <a:r>
              <a:rPr sz="880" b="1">
                <a:solidFill>
                  <a:srgbClr val="0F2A5F"/>
                </a:solidFill>
                <a:latin typeface="Hiragino Sans"/>
              </a:rPr>
              <a:t>荷物を増やさず</a:t>
            </a:r>
            <a:r>
              <a:rPr sz="880" b="0">
                <a:solidFill>
                  <a:srgbClr val="0F172A"/>
                </a:solidFill>
                <a:latin typeface="Hiragino Sans"/>
              </a:rPr>
              <a:t>、後日自宅に届く。観光地・ライブ会場で特に強い導線。</a:t>
            </a:r>
          </a:p>
        </p:txBody>
      </p:sp>
      <p:sp>
        <p:nvSpPr>
          <p:cNvPr id="104" name="Rounded Rectangle 103"/>
          <p:cNvSpPr/>
          <p:nvPr/>
        </p:nvSpPr>
        <p:spPr>
          <a:xfrm>
            <a:off x="9616440" y="3127248"/>
            <a:ext cx="2087880" cy="914400"/>
          </a:xfrm>
          <a:prstGeom prst="roundRect">
            <a:avLst>
              <a:gd name="adj" fmla="val 8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9689592" y="3182112"/>
            <a:ext cx="1941576" cy="237744"/>
          </a:xfrm>
          <a:prstGeom prst="rect">
            <a:avLst/>
          </a:prstGeom>
          <a:noFill/>
        </p:spPr>
        <p:txBody>
          <a:bodyPr wrap="square" lIns="73152" rIns="73152" tIns="36576" bIns="36576" anchor="ctr">
            <a:spAutoFit/>
          </a:bodyPr>
          <a:lstStyle/>
          <a:p>
            <a:pPr algn="l"/>
            <a:r>
              <a:rPr sz="1000" b="1">
                <a:solidFill>
                  <a:srgbClr val="0F2A5F"/>
                </a:solidFill>
                <a:latin typeface="Hiragino Sans"/>
              </a:rPr>
              <a:t>🤝 相談窓口</a:t>
            </a:r>
          </a:p>
        </p:txBody>
      </p:sp>
      <p:sp>
        <p:nvSpPr>
          <p:cNvPr id="106" name="TextBox 105"/>
          <p:cNvSpPr txBox="1"/>
          <p:nvPr/>
        </p:nvSpPr>
        <p:spPr>
          <a:xfrm>
            <a:off x="9689592" y="3419856"/>
            <a:ext cx="1941576" cy="548640"/>
          </a:xfrm>
          <a:prstGeom prst="rect">
            <a:avLst/>
          </a:prstGeom>
          <a:noFill/>
        </p:spPr>
        <p:txBody>
          <a:bodyPr wrap="square" anchor="t">
            <a:spAutoFit/>
          </a:bodyPr>
          <a:lstStyle/>
          <a:p>
            <a:pPr algn="l">
              <a:lnSpc>
                <a:spcPct val="115000"/>
              </a:lnSpc>
            </a:pPr>
            <a:r>
              <a:rPr sz="880" b="0">
                <a:solidFill>
                  <a:srgbClr val="0F172A"/>
                </a:solidFill>
                <a:latin typeface="Hiragino Sans"/>
              </a:rPr>
              <a:t>スマホ操作が難しい人向けに</a:t>
            </a:r>
            <a:r>
              <a:rPr sz="880" b="1">
                <a:solidFill>
                  <a:srgbClr val="0F2A5F"/>
                </a:solidFill>
                <a:latin typeface="Hiragino Sans"/>
              </a:rPr>
              <a:t>有人サポート</a:t>
            </a:r>
            <a:r>
              <a:rPr sz="880" b="0">
                <a:solidFill>
                  <a:srgbClr val="0F172A"/>
                </a:solidFill>
                <a:latin typeface="Hiragino Sans"/>
              </a:rPr>
              <a:t>。タブレット決済 or 後日案内で取りこぼしゼロへ。</a:t>
            </a:r>
          </a:p>
        </p:txBody>
      </p:sp>
      <p:sp>
        <p:nvSpPr>
          <p:cNvPr id="107" name="Rounded Rectangle 106"/>
          <p:cNvSpPr/>
          <p:nvPr/>
        </p:nvSpPr>
        <p:spPr>
          <a:xfrm>
            <a:off x="5166360" y="4242816"/>
            <a:ext cx="6675120" cy="141732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ounded Rectangle 107"/>
          <p:cNvSpPr/>
          <p:nvPr/>
        </p:nvSpPr>
        <p:spPr>
          <a:xfrm>
            <a:off x="5303520" y="4334256"/>
            <a:ext cx="1188720" cy="256032"/>
          </a:xfrm>
          <a:prstGeom prst="roundRect">
            <a:avLst>
              <a:gd name="adj" fmla="val 40000"/>
            </a:avLst>
          </a:prstGeom>
          <a:solidFill>
            <a:srgbClr val="FACC15"/>
          </a:solidFill>
          <a:ln w="9525">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00" b="1">
                <a:solidFill>
                  <a:srgbClr val="0F2A5F"/>
                </a:solidFill>
                <a:latin typeface="Hiragino Sans"/>
              </a:rPr>
              <a:t>MERIT</a:t>
            </a:r>
          </a:p>
        </p:txBody>
      </p:sp>
      <p:sp>
        <p:nvSpPr>
          <p:cNvPr id="109" name="Rounded Rectangle 108"/>
          <p:cNvSpPr/>
          <p:nvPr/>
        </p:nvSpPr>
        <p:spPr>
          <a:xfrm>
            <a:off x="5303520" y="4654296"/>
            <a:ext cx="3131820" cy="914400"/>
          </a:xfrm>
          <a:prstGeom prst="roundRect">
            <a:avLst>
              <a:gd name="adj" fmla="val 8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5394960" y="4690872"/>
            <a:ext cx="2948940" cy="237744"/>
          </a:xfrm>
          <a:prstGeom prst="rect">
            <a:avLst/>
          </a:prstGeom>
          <a:noFill/>
        </p:spPr>
        <p:txBody>
          <a:bodyPr wrap="square" lIns="73152" rIns="73152" tIns="36576" bIns="36576" anchor="ctr">
            <a:spAutoFit/>
          </a:bodyPr>
          <a:lstStyle/>
          <a:p>
            <a:pPr algn="l"/>
            <a:r>
              <a:rPr sz="1000" b="1">
                <a:solidFill>
                  <a:srgbClr val="0F2A5F"/>
                </a:solidFill>
                <a:latin typeface="Hiragino Sans"/>
              </a:rPr>
              <a:t>👤 ユーザー  </a:t>
            </a:r>
            <a:r>
              <a:rPr sz="800" b="0">
                <a:solidFill>
                  <a:srgbClr val="475569"/>
                </a:solidFill>
                <a:latin typeface="Hiragino Sans"/>
              </a:rPr>
              <a:t>(現地体験者)</a:t>
            </a:r>
          </a:p>
        </p:txBody>
      </p:sp>
      <p:sp>
        <p:nvSpPr>
          <p:cNvPr id="111" name="TextBox 110"/>
          <p:cNvSpPr txBox="1"/>
          <p:nvPr/>
        </p:nvSpPr>
        <p:spPr>
          <a:xfrm>
            <a:off x="5394960" y="4928616"/>
            <a:ext cx="2948940" cy="585216"/>
          </a:xfrm>
          <a:prstGeom prst="rect">
            <a:avLst/>
          </a:prstGeom>
          <a:noFill/>
        </p:spPr>
        <p:txBody>
          <a:bodyPr wrap="square" anchor="t">
            <a:spAutoFit/>
          </a:bodyPr>
          <a:lstStyle/>
          <a:p>
            <a:pPr algn="l">
              <a:lnSpc>
                <a:spcPct val="120000"/>
              </a:lnSpc>
            </a:pPr>
            <a:r>
              <a:rPr sz="900" b="1">
                <a:solidFill>
                  <a:srgbClr val="06B6D4"/>
                </a:solidFill>
                <a:latin typeface="Hiragino Sans"/>
              </a:rPr>
              <a:t>✓ </a:t>
            </a:r>
            <a:r>
              <a:rPr sz="900" b="1">
                <a:solidFill>
                  <a:srgbClr val="0F172A"/>
                </a:solidFill>
                <a:latin typeface="Hiragino Sans"/>
              </a:rPr>
              <a:t>現地限定</a:t>
            </a:r>
            <a:r>
              <a:rPr sz="900" b="0">
                <a:solidFill>
                  <a:srgbClr val="0F172A"/>
                </a:solidFill>
                <a:latin typeface="Hiragino Sans"/>
              </a:rPr>
              <a:t>感をすぐ買える</a:t>
            </a:r>
          </a:p>
          <a:p>
            <a:pPr algn="l">
              <a:lnSpc>
                <a:spcPct val="120000"/>
              </a:lnSpc>
            </a:pPr>
            <a:r>
              <a:rPr sz="900" b="1">
                <a:solidFill>
                  <a:srgbClr val="06B6D4"/>
                </a:solidFill>
                <a:latin typeface="Hiragino Sans"/>
              </a:rPr>
              <a:t>✓ </a:t>
            </a:r>
            <a:r>
              <a:rPr sz="900" b="1">
                <a:solidFill>
                  <a:srgbClr val="0F172A"/>
                </a:solidFill>
                <a:latin typeface="Hiragino Sans"/>
              </a:rPr>
              <a:t>待ち時間ゼロ</a:t>
            </a:r>
            <a:r>
              <a:rPr sz="900" b="0">
                <a:solidFill>
                  <a:srgbClr val="0F172A"/>
                </a:solidFill>
                <a:latin typeface="Hiragino Sans"/>
              </a:rPr>
              <a:t>／在庫確保で安心</a:t>
            </a:r>
          </a:p>
          <a:p>
            <a:pPr algn="l">
              <a:lnSpc>
                <a:spcPct val="120000"/>
              </a:lnSpc>
            </a:pPr>
            <a:r>
              <a:rPr sz="900" b="1">
                <a:solidFill>
                  <a:srgbClr val="06B6D4"/>
                </a:solidFill>
                <a:latin typeface="Hiragino Sans"/>
              </a:rPr>
              <a:t>✓ </a:t>
            </a:r>
            <a:r>
              <a:rPr sz="900" b="1">
                <a:solidFill>
                  <a:srgbClr val="0F172A"/>
                </a:solidFill>
                <a:latin typeface="Hiragino Sans"/>
              </a:rPr>
              <a:t>受取／配送</a:t>
            </a:r>
            <a:r>
              <a:rPr sz="900" b="0">
                <a:solidFill>
                  <a:srgbClr val="0F172A"/>
                </a:solidFill>
                <a:latin typeface="Hiragino Sans"/>
              </a:rPr>
              <a:t>を選べる柔軟さ</a:t>
            </a:r>
          </a:p>
        </p:txBody>
      </p:sp>
      <p:sp>
        <p:nvSpPr>
          <p:cNvPr id="112" name="Rounded Rectangle 111"/>
          <p:cNvSpPr/>
          <p:nvPr/>
        </p:nvSpPr>
        <p:spPr>
          <a:xfrm>
            <a:off x="8572500" y="4654296"/>
            <a:ext cx="3131820" cy="914400"/>
          </a:xfrm>
          <a:prstGeom prst="roundRect">
            <a:avLst>
              <a:gd name="adj" fmla="val 8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8663940" y="4690872"/>
            <a:ext cx="2948940" cy="237744"/>
          </a:xfrm>
          <a:prstGeom prst="rect">
            <a:avLst/>
          </a:prstGeom>
          <a:noFill/>
        </p:spPr>
        <p:txBody>
          <a:bodyPr wrap="square" lIns="73152" rIns="73152" tIns="36576" bIns="36576" anchor="ctr">
            <a:spAutoFit/>
          </a:bodyPr>
          <a:lstStyle/>
          <a:p>
            <a:pPr algn="l"/>
            <a:r>
              <a:rPr sz="1000" b="1">
                <a:solidFill>
                  <a:srgbClr val="0F2A5F"/>
                </a:solidFill>
                <a:latin typeface="Hiragino Sans"/>
              </a:rPr>
              <a:t>🏢 事業者  </a:t>
            </a:r>
            <a:r>
              <a:rPr sz="800" b="0">
                <a:solidFill>
                  <a:srgbClr val="475569"/>
                </a:solidFill>
                <a:latin typeface="Hiragino Sans"/>
              </a:rPr>
              <a:t>(運営・ブランド)</a:t>
            </a:r>
          </a:p>
        </p:txBody>
      </p:sp>
      <p:sp>
        <p:nvSpPr>
          <p:cNvPr id="114" name="TextBox 113"/>
          <p:cNvSpPr txBox="1"/>
          <p:nvPr/>
        </p:nvSpPr>
        <p:spPr>
          <a:xfrm>
            <a:off x="8663940" y="4928616"/>
            <a:ext cx="2948940" cy="585216"/>
          </a:xfrm>
          <a:prstGeom prst="rect">
            <a:avLst/>
          </a:prstGeom>
          <a:noFill/>
        </p:spPr>
        <p:txBody>
          <a:bodyPr wrap="square" anchor="t">
            <a:spAutoFit/>
          </a:bodyPr>
          <a:lstStyle/>
          <a:p>
            <a:pPr algn="l">
              <a:lnSpc>
                <a:spcPct val="120000"/>
              </a:lnSpc>
            </a:pPr>
            <a:r>
              <a:rPr sz="900" b="1">
                <a:solidFill>
                  <a:srgbClr val="06B6D4"/>
                </a:solidFill>
                <a:latin typeface="Hiragino Sans"/>
              </a:rPr>
              <a:t>✓ </a:t>
            </a:r>
            <a:r>
              <a:rPr sz="900" b="1">
                <a:solidFill>
                  <a:srgbClr val="0F172A"/>
                </a:solidFill>
                <a:latin typeface="Hiragino Sans"/>
              </a:rPr>
              <a:t>大型機器・設備不要</a:t>
            </a:r>
            <a:r>
              <a:rPr sz="900" b="0">
                <a:solidFill>
                  <a:srgbClr val="0F172A"/>
                </a:solidFill>
                <a:latin typeface="Hiragino Sans"/>
              </a:rPr>
              <a:t>／設置容易</a:t>
            </a:r>
          </a:p>
          <a:p>
            <a:pPr algn="l">
              <a:lnSpc>
                <a:spcPct val="120000"/>
              </a:lnSpc>
            </a:pPr>
            <a:r>
              <a:rPr sz="900" b="1">
                <a:solidFill>
                  <a:srgbClr val="06B6D4"/>
                </a:solidFill>
                <a:latin typeface="Hiragino Sans"/>
              </a:rPr>
              <a:t>✓ </a:t>
            </a:r>
            <a:r>
              <a:rPr sz="900" b="1">
                <a:solidFill>
                  <a:srgbClr val="0F172A"/>
                </a:solidFill>
                <a:latin typeface="Hiragino Sans"/>
              </a:rPr>
              <a:t>商品差替え</a:t>
            </a:r>
            <a:r>
              <a:rPr sz="900" b="0">
                <a:solidFill>
                  <a:srgbClr val="0F172A"/>
                </a:solidFill>
                <a:latin typeface="Hiragino Sans"/>
              </a:rPr>
              <a:t>が早い／限定販売に強い</a:t>
            </a:r>
          </a:p>
          <a:p>
            <a:pPr algn="l">
              <a:lnSpc>
                <a:spcPct val="120000"/>
              </a:lnSpc>
            </a:pPr>
            <a:r>
              <a:rPr sz="900" b="1">
                <a:solidFill>
                  <a:srgbClr val="06B6D4"/>
                </a:solidFill>
                <a:latin typeface="Hiragino Sans"/>
              </a:rPr>
              <a:t>✓ </a:t>
            </a:r>
            <a:r>
              <a:rPr sz="900" b="1">
                <a:solidFill>
                  <a:srgbClr val="0F172A"/>
                </a:solidFill>
                <a:latin typeface="Hiragino Sans"/>
              </a:rPr>
              <a:t>在庫・受取・配送</a:t>
            </a:r>
            <a:r>
              <a:rPr sz="900" b="0">
                <a:solidFill>
                  <a:srgbClr val="0F172A"/>
                </a:solidFill>
                <a:latin typeface="Hiragino Sans"/>
              </a:rPr>
              <a:t>を一元管理／窓口混雑軽減</a:t>
            </a:r>
          </a:p>
        </p:txBody>
      </p:sp>
      <p:sp>
        <p:nvSpPr>
          <p:cNvPr id="115" name="Rounded Rectangle 114"/>
          <p:cNvSpPr/>
          <p:nvPr/>
        </p:nvSpPr>
        <p:spPr>
          <a:xfrm>
            <a:off x="365760" y="5029200"/>
            <a:ext cx="11475720" cy="1005840"/>
          </a:xfrm>
          <a:prstGeom prst="roundRect">
            <a:avLst>
              <a:gd name="adj" fmla="val 4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ounded Rectangle 115"/>
          <p:cNvSpPr/>
          <p:nvPr/>
        </p:nvSpPr>
        <p:spPr>
          <a:xfrm>
            <a:off x="502920" y="5120640"/>
            <a:ext cx="1188720" cy="256032"/>
          </a:xfrm>
          <a:prstGeom prst="roundRect">
            <a:avLst>
              <a:gd name="adj" fmla="val 40000"/>
            </a:avLst>
          </a:prstGeom>
          <a:solidFill>
            <a:srgbClr val="0F2A5F"/>
          </a:solidFill>
          <a:ln w="9525">
            <a:solidFill>
              <a:srgbClr val="0F2A5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900" b="1">
                <a:solidFill>
                  <a:srgbClr val="FACC15"/>
                </a:solidFill>
                <a:latin typeface="Hiragino Sans"/>
              </a:rPr>
              <a:t>FLOW</a:t>
            </a:r>
          </a:p>
        </p:txBody>
      </p:sp>
      <p:sp>
        <p:nvSpPr>
          <p:cNvPr id="117" name="Rounded Rectangle 116"/>
          <p:cNvSpPr/>
          <p:nvPr/>
        </p:nvSpPr>
        <p:spPr>
          <a:xfrm>
            <a:off x="1828800" y="5166360"/>
            <a:ext cx="2411730" cy="731520"/>
          </a:xfrm>
          <a:prstGeom prst="roundRect">
            <a:avLst>
              <a:gd name="adj" fmla="val 8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Oval 117"/>
          <p:cNvSpPr/>
          <p:nvPr/>
        </p:nvSpPr>
        <p:spPr>
          <a:xfrm>
            <a:off x="1901952" y="5330952"/>
            <a:ext cx="384048" cy="384048"/>
          </a:xfrm>
          <a:prstGeom prst="ellipse">
            <a:avLst/>
          </a:prstGeom>
          <a:solidFill>
            <a:srgbClr val="06B6D4"/>
          </a:solidFill>
          <a:ln w="95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Hiragino Sans"/>
              </a:rPr>
              <a:t>01</a:t>
            </a:r>
          </a:p>
        </p:txBody>
      </p:sp>
      <p:sp>
        <p:nvSpPr>
          <p:cNvPr id="119" name="TextBox 118"/>
          <p:cNvSpPr txBox="1"/>
          <p:nvPr/>
        </p:nvSpPr>
        <p:spPr>
          <a:xfrm>
            <a:off x="2331720" y="5239512"/>
            <a:ext cx="1844802" cy="274320"/>
          </a:xfrm>
          <a:prstGeom prst="rect">
            <a:avLst/>
          </a:prstGeom>
          <a:noFill/>
        </p:spPr>
        <p:txBody>
          <a:bodyPr wrap="square" lIns="73152" rIns="73152" tIns="36576" bIns="36576" anchor="ctr">
            <a:spAutoFit/>
          </a:bodyPr>
          <a:lstStyle/>
          <a:p>
            <a:pPr algn="l"/>
            <a:r>
              <a:rPr sz="1100" b="1">
                <a:solidFill>
                  <a:srgbClr val="0F2A5F"/>
                </a:solidFill>
                <a:latin typeface="Hiragino Sans"/>
              </a:rPr>
              <a:t>商品を選ぶ</a:t>
            </a:r>
          </a:p>
        </p:txBody>
      </p:sp>
      <p:sp>
        <p:nvSpPr>
          <p:cNvPr id="120" name="TextBox 119"/>
          <p:cNvSpPr txBox="1"/>
          <p:nvPr/>
        </p:nvSpPr>
        <p:spPr>
          <a:xfrm>
            <a:off x="2331720" y="5513832"/>
            <a:ext cx="1844802" cy="347472"/>
          </a:xfrm>
          <a:prstGeom prst="rect">
            <a:avLst/>
          </a:prstGeom>
          <a:noFill/>
        </p:spPr>
        <p:txBody>
          <a:bodyPr wrap="square" lIns="73152" rIns="73152" tIns="36576" bIns="36576" anchor="t">
            <a:spAutoFit/>
          </a:bodyPr>
          <a:lstStyle/>
          <a:p>
            <a:pPr algn="l"/>
            <a:r>
              <a:rPr sz="850" b="0">
                <a:solidFill>
                  <a:srgbClr val="475569"/>
                </a:solidFill>
                <a:latin typeface="Hiragino Sans"/>
              </a:rPr>
              <a:t>ポスター上の枠から欲しい商品を選択</a:t>
            </a:r>
          </a:p>
        </p:txBody>
      </p:sp>
      <p:sp>
        <p:nvSpPr>
          <p:cNvPr id="121" name="Right Arrow 120"/>
          <p:cNvSpPr/>
          <p:nvPr/>
        </p:nvSpPr>
        <p:spPr>
          <a:xfrm>
            <a:off x="4249674" y="5477256"/>
            <a:ext cx="73152" cy="109728"/>
          </a:xfrm>
          <a:prstGeom prst="right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4331970" y="5166360"/>
            <a:ext cx="2411730" cy="731520"/>
          </a:xfrm>
          <a:prstGeom prst="roundRect">
            <a:avLst>
              <a:gd name="adj" fmla="val 8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Oval 122"/>
          <p:cNvSpPr/>
          <p:nvPr/>
        </p:nvSpPr>
        <p:spPr>
          <a:xfrm>
            <a:off x="4405122" y="5330952"/>
            <a:ext cx="384048" cy="384048"/>
          </a:xfrm>
          <a:prstGeom prst="ellipse">
            <a:avLst/>
          </a:prstGeom>
          <a:solidFill>
            <a:srgbClr val="06B6D4"/>
          </a:solidFill>
          <a:ln w="95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Hiragino Sans"/>
              </a:rPr>
              <a:t>02</a:t>
            </a:r>
          </a:p>
        </p:txBody>
      </p:sp>
      <p:sp>
        <p:nvSpPr>
          <p:cNvPr id="124" name="TextBox 123"/>
          <p:cNvSpPr txBox="1"/>
          <p:nvPr/>
        </p:nvSpPr>
        <p:spPr>
          <a:xfrm>
            <a:off x="4834890" y="5239512"/>
            <a:ext cx="1844802" cy="274320"/>
          </a:xfrm>
          <a:prstGeom prst="rect">
            <a:avLst/>
          </a:prstGeom>
          <a:noFill/>
        </p:spPr>
        <p:txBody>
          <a:bodyPr wrap="square" lIns="73152" rIns="73152" tIns="36576" bIns="36576" anchor="ctr">
            <a:spAutoFit/>
          </a:bodyPr>
          <a:lstStyle/>
          <a:p>
            <a:pPr algn="l"/>
            <a:r>
              <a:rPr sz="1100" b="1">
                <a:solidFill>
                  <a:srgbClr val="0F2A5F"/>
                </a:solidFill>
                <a:latin typeface="Hiragino Sans"/>
              </a:rPr>
              <a:t>NFC / QR</a:t>
            </a:r>
          </a:p>
        </p:txBody>
      </p:sp>
      <p:sp>
        <p:nvSpPr>
          <p:cNvPr id="125" name="TextBox 124"/>
          <p:cNvSpPr txBox="1"/>
          <p:nvPr/>
        </p:nvSpPr>
        <p:spPr>
          <a:xfrm>
            <a:off x="4834890" y="5513832"/>
            <a:ext cx="1844802" cy="347472"/>
          </a:xfrm>
          <a:prstGeom prst="rect">
            <a:avLst/>
          </a:prstGeom>
          <a:noFill/>
        </p:spPr>
        <p:txBody>
          <a:bodyPr wrap="square" lIns="73152" rIns="73152" tIns="36576" bIns="36576" anchor="t">
            <a:spAutoFit/>
          </a:bodyPr>
          <a:lstStyle/>
          <a:p>
            <a:pPr algn="l"/>
            <a:r>
              <a:rPr sz="850" b="0">
                <a:solidFill>
                  <a:srgbClr val="475569"/>
                </a:solidFill>
                <a:latin typeface="Hiragino Sans"/>
              </a:rPr>
              <a:t>スマホでタッチ or QR読み取り</a:t>
            </a:r>
          </a:p>
        </p:txBody>
      </p:sp>
      <p:sp>
        <p:nvSpPr>
          <p:cNvPr id="126" name="Right Arrow 125"/>
          <p:cNvSpPr/>
          <p:nvPr/>
        </p:nvSpPr>
        <p:spPr>
          <a:xfrm>
            <a:off x="6752844" y="5477256"/>
            <a:ext cx="73152" cy="109728"/>
          </a:xfrm>
          <a:prstGeom prst="right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ounded Rectangle 126"/>
          <p:cNvSpPr/>
          <p:nvPr/>
        </p:nvSpPr>
        <p:spPr>
          <a:xfrm>
            <a:off x="6835140" y="5166360"/>
            <a:ext cx="2411730" cy="731520"/>
          </a:xfrm>
          <a:prstGeom prst="roundRect">
            <a:avLst>
              <a:gd name="adj" fmla="val 8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Oval 127"/>
          <p:cNvSpPr/>
          <p:nvPr/>
        </p:nvSpPr>
        <p:spPr>
          <a:xfrm>
            <a:off x="6908292" y="5330952"/>
            <a:ext cx="384048" cy="384048"/>
          </a:xfrm>
          <a:prstGeom prst="ellipse">
            <a:avLst/>
          </a:prstGeom>
          <a:solidFill>
            <a:srgbClr val="06B6D4"/>
          </a:solidFill>
          <a:ln w="95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Hiragino Sans"/>
              </a:rPr>
              <a:t>03</a:t>
            </a:r>
          </a:p>
        </p:txBody>
      </p:sp>
      <p:sp>
        <p:nvSpPr>
          <p:cNvPr id="129" name="TextBox 128"/>
          <p:cNvSpPr txBox="1"/>
          <p:nvPr/>
        </p:nvSpPr>
        <p:spPr>
          <a:xfrm>
            <a:off x="7338060" y="5239512"/>
            <a:ext cx="1844802" cy="274320"/>
          </a:xfrm>
          <a:prstGeom prst="rect">
            <a:avLst/>
          </a:prstGeom>
          <a:noFill/>
        </p:spPr>
        <p:txBody>
          <a:bodyPr wrap="square" lIns="73152" rIns="73152" tIns="36576" bIns="36576" anchor="ctr">
            <a:spAutoFit/>
          </a:bodyPr>
          <a:lstStyle/>
          <a:p>
            <a:pPr algn="l"/>
            <a:r>
              <a:rPr sz="1100" b="1">
                <a:solidFill>
                  <a:srgbClr val="0F2A5F"/>
                </a:solidFill>
                <a:latin typeface="Hiragino Sans"/>
              </a:rPr>
              <a:t>決済 ＆ 受取選択</a:t>
            </a:r>
          </a:p>
        </p:txBody>
      </p:sp>
      <p:sp>
        <p:nvSpPr>
          <p:cNvPr id="130" name="TextBox 129"/>
          <p:cNvSpPr txBox="1"/>
          <p:nvPr/>
        </p:nvSpPr>
        <p:spPr>
          <a:xfrm>
            <a:off x="7338060" y="5513832"/>
            <a:ext cx="1844802" cy="347472"/>
          </a:xfrm>
          <a:prstGeom prst="rect">
            <a:avLst/>
          </a:prstGeom>
          <a:noFill/>
        </p:spPr>
        <p:txBody>
          <a:bodyPr wrap="square" lIns="73152" rIns="73152" tIns="36576" bIns="36576" anchor="t">
            <a:spAutoFit/>
          </a:bodyPr>
          <a:lstStyle/>
          <a:p>
            <a:pPr algn="l"/>
            <a:r>
              <a:rPr sz="850" b="0">
                <a:solidFill>
                  <a:srgbClr val="475569"/>
                </a:solidFill>
                <a:latin typeface="Hiragino Sans"/>
              </a:rPr>
              <a:t>クレカ等で決済／現地受取 or 配送を選択</a:t>
            </a:r>
          </a:p>
        </p:txBody>
      </p:sp>
      <p:sp>
        <p:nvSpPr>
          <p:cNvPr id="131" name="Right Arrow 130"/>
          <p:cNvSpPr/>
          <p:nvPr/>
        </p:nvSpPr>
        <p:spPr>
          <a:xfrm>
            <a:off x="9256014" y="5477256"/>
            <a:ext cx="73152" cy="109728"/>
          </a:xfrm>
          <a:prstGeom prst="right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9338310" y="5166360"/>
            <a:ext cx="2411730" cy="731520"/>
          </a:xfrm>
          <a:prstGeom prst="roundRect">
            <a:avLst>
              <a:gd name="adj" fmla="val 8000"/>
            </a:avLst>
          </a:prstGeom>
          <a:solidFill>
            <a:srgbClr val="F8FAF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Oval 132"/>
          <p:cNvSpPr/>
          <p:nvPr/>
        </p:nvSpPr>
        <p:spPr>
          <a:xfrm>
            <a:off x="9411462" y="5330952"/>
            <a:ext cx="384048" cy="384048"/>
          </a:xfrm>
          <a:prstGeom prst="ellipse">
            <a:avLst/>
          </a:prstGeom>
          <a:solidFill>
            <a:srgbClr val="06B6D4"/>
          </a:solidFill>
          <a:ln w="95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Hiragino Sans"/>
              </a:rPr>
              <a:t>04</a:t>
            </a:r>
          </a:p>
        </p:txBody>
      </p:sp>
      <p:sp>
        <p:nvSpPr>
          <p:cNvPr id="134" name="TextBox 133"/>
          <p:cNvSpPr txBox="1"/>
          <p:nvPr/>
        </p:nvSpPr>
        <p:spPr>
          <a:xfrm>
            <a:off x="9841230" y="5239512"/>
            <a:ext cx="1844802" cy="274320"/>
          </a:xfrm>
          <a:prstGeom prst="rect">
            <a:avLst/>
          </a:prstGeom>
          <a:noFill/>
        </p:spPr>
        <p:txBody>
          <a:bodyPr wrap="square" lIns="73152" rIns="73152" tIns="36576" bIns="36576" anchor="ctr">
            <a:spAutoFit/>
          </a:bodyPr>
          <a:lstStyle/>
          <a:p>
            <a:pPr algn="l"/>
            <a:r>
              <a:rPr sz="1100" b="1">
                <a:solidFill>
                  <a:srgbClr val="0F2A5F"/>
                </a:solidFill>
                <a:latin typeface="Hiragino Sans"/>
              </a:rPr>
              <a:t>受け取る</a:t>
            </a:r>
          </a:p>
        </p:txBody>
      </p:sp>
      <p:sp>
        <p:nvSpPr>
          <p:cNvPr id="135" name="TextBox 134"/>
          <p:cNvSpPr txBox="1"/>
          <p:nvPr/>
        </p:nvSpPr>
        <p:spPr>
          <a:xfrm>
            <a:off x="9841230" y="5513832"/>
            <a:ext cx="1844802" cy="347472"/>
          </a:xfrm>
          <a:prstGeom prst="rect">
            <a:avLst/>
          </a:prstGeom>
          <a:noFill/>
        </p:spPr>
        <p:txBody>
          <a:bodyPr wrap="square" lIns="73152" rIns="73152" tIns="36576" bIns="36576" anchor="t">
            <a:spAutoFit/>
          </a:bodyPr>
          <a:lstStyle/>
          <a:p>
            <a:pPr algn="l"/>
            <a:r>
              <a:rPr sz="850" b="0">
                <a:solidFill>
                  <a:srgbClr val="475569"/>
                </a:solidFill>
                <a:latin typeface="Hiragino Sans"/>
              </a:rPr>
              <a:t>注文番号 or QR提示でスムーズに受取</a:t>
            </a:r>
          </a:p>
        </p:txBody>
      </p:sp>
      <p:sp>
        <p:nvSpPr>
          <p:cNvPr id="136" name="Rounded Rectangle 135"/>
          <p:cNvSpPr/>
          <p:nvPr/>
        </p:nvSpPr>
        <p:spPr>
          <a:xfrm>
            <a:off x="365760" y="6089904"/>
            <a:ext cx="11475720" cy="713232"/>
          </a:xfrm>
          <a:prstGeom prst="roundRect">
            <a:avLst>
              <a:gd name="adj" fmla="val 6000"/>
            </a:avLst>
          </a:prstGeom>
          <a:solidFill>
            <a:srgbClr val="0F2A5F"/>
          </a:solidFill>
          <a:ln w="9525">
            <a:solidFill>
              <a:srgbClr val="0F2A5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Box 136"/>
          <p:cNvSpPr txBox="1"/>
          <p:nvPr/>
        </p:nvSpPr>
        <p:spPr>
          <a:xfrm>
            <a:off x="502920" y="6126480"/>
            <a:ext cx="2377440" cy="274320"/>
          </a:xfrm>
          <a:prstGeom prst="rect">
            <a:avLst/>
          </a:prstGeom>
          <a:noFill/>
        </p:spPr>
        <p:txBody>
          <a:bodyPr wrap="square" lIns="73152" rIns="73152" tIns="36576" bIns="36576" anchor="ctr">
            <a:spAutoFit/>
          </a:bodyPr>
          <a:lstStyle/>
          <a:p>
            <a:pPr algn="l"/>
            <a:r>
              <a:rPr sz="900" b="1">
                <a:solidFill>
                  <a:srgbClr val="FACC15"/>
                </a:solidFill>
                <a:latin typeface="Hiragino Sans"/>
              </a:rPr>
              <a:t>USE CASES  </a:t>
            </a:r>
            <a:r>
              <a:rPr sz="900" b="1">
                <a:solidFill>
                  <a:srgbClr val="67E8F9"/>
                </a:solidFill>
                <a:latin typeface="Hiragino Sans"/>
              </a:rPr>
              <a:t>活用シーン</a:t>
            </a:r>
          </a:p>
        </p:txBody>
      </p:sp>
      <p:sp>
        <p:nvSpPr>
          <p:cNvPr id="138" name="TextBox 137"/>
          <p:cNvSpPr txBox="1"/>
          <p:nvPr/>
        </p:nvSpPr>
        <p:spPr>
          <a:xfrm>
            <a:off x="502920" y="6400800"/>
            <a:ext cx="11247120" cy="365760"/>
          </a:xfrm>
          <a:prstGeom prst="rect">
            <a:avLst/>
          </a:prstGeom>
          <a:noFill/>
        </p:spPr>
        <p:txBody>
          <a:bodyPr wrap="square" lIns="73152" rIns="73152" tIns="36576" bIns="36576" anchor="ctr">
            <a:spAutoFit/>
          </a:bodyPr>
          <a:lstStyle/>
          <a:p>
            <a:pPr algn="l"/>
            <a:r>
              <a:rPr sz="1000" b="1">
                <a:solidFill>
                  <a:srgbClr val="FFFFFF"/>
                </a:solidFill>
                <a:latin typeface="Hiragino Sans"/>
              </a:rPr>
              <a:t>アイドル/アーティストグッズ  ・  トレカ  ・  イベント限定商品  ・  観光地限定商品  ・  ポップアップ  ・  コラボカフェ  ・  展示会・ライブ会場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